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79" r:id="rId3"/>
    <p:sldId id="280" r:id="rId4"/>
    <p:sldId id="271" r:id="rId5"/>
    <p:sldId id="257" r:id="rId6"/>
    <p:sldId id="272" r:id="rId7"/>
    <p:sldId id="281" r:id="rId8"/>
    <p:sldId id="284" r:id="rId9"/>
    <p:sldId id="273" r:id="rId10"/>
    <p:sldId id="288" r:id="rId11"/>
    <p:sldId id="274" r:id="rId12"/>
    <p:sldId id="283" r:id="rId13"/>
    <p:sldId id="262" r:id="rId14"/>
    <p:sldId id="260" r:id="rId15"/>
    <p:sldId id="276" r:id="rId16"/>
    <p:sldId id="287" r:id="rId17"/>
    <p:sldId id="278" r:id="rId18"/>
    <p:sldId id="285" r:id="rId19"/>
    <p:sldId id="286" r:id="rId2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94660"/>
  </p:normalViewPr>
  <p:slideViewPr>
    <p:cSldViewPr>
      <p:cViewPr varScale="1">
        <p:scale>
          <a:sx n="78" d="100"/>
          <a:sy n="78" d="100"/>
        </p:scale>
        <p:origin x="86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0153D1A-995A-40A3-A352-CB33C11480AD}" type="datetimeFigureOut">
              <a:rPr lang="en-IN" smtClean="0"/>
              <a:t>28-04-2026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57E6E57-4B8B-4F76-877D-21D678EB5104}" type="slidenum">
              <a:rPr lang="en-IN" smtClean="0"/>
              <a:t>‹#›</a:t>
            </a:fld>
            <a:endParaRPr lang="en-IN"/>
          </a:p>
        </p:txBody>
      </p:sp>
    </p:spTree>
    <p:extLst>
      <p:ext uri="{BB962C8B-B14F-4D97-AF65-F5344CB8AC3E}">
        <p14:creationId xmlns:p14="http://schemas.microsoft.com/office/powerpoint/2010/main" val="3926855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000" b="1" i="0">
                <a:solidFill>
                  <a:srgbClr val="006FC0"/>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1">
                <a:solidFill>
                  <a:srgbClr val="046F09"/>
                </a:solidFill>
                <a:latin typeface="Times New Roman"/>
                <a:cs typeface="Times New Roman"/>
              </a:defRPr>
            </a:lvl1pPr>
          </a:lstStyle>
          <a:p>
            <a:pPr marL="12700">
              <a:lnSpc>
                <a:spcPts val="1839"/>
              </a:lnSpc>
            </a:pPr>
            <a:endParaRPr spc="-10" dirty="0"/>
          </a:p>
        </p:txBody>
      </p:sp>
      <p:sp>
        <p:nvSpPr>
          <p:cNvPr id="5" name="Holder 5"/>
          <p:cNvSpPr>
            <a:spLocks noGrp="1"/>
          </p:cNvSpPr>
          <p:nvPr>
            <p:ph type="dt" sz="half" idx="6"/>
          </p:nvPr>
        </p:nvSpPr>
        <p:spPr/>
        <p:txBody>
          <a:bodyPr lIns="0" tIns="0" rIns="0" bIns="0"/>
          <a:lstStyle>
            <a:lvl1pPr>
              <a:defRPr sz="1600" b="0" i="1">
                <a:solidFill>
                  <a:srgbClr val="046F09"/>
                </a:solidFill>
                <a:latin typeface="Times New Roman"/>
                <a:cs typeface="Times New Roman"/>
              </a:defRPr>
            </a:lvl1pPr>
          </a:lstStyle>
          <a:p>
            <a:pPr marL="12700">
              <a:lnSpc>
                <a:spcPts val="1839"/>
              </a:lnSpc>
            </a:pPr>
            <a:fld id="{BD1C5008-37EC-4A06-A018-B6DEF4D571AA}" type="datetime1">
              <a:rPr lang="en-US" spc="-50" smtClean="0"/>
              <a:t>4/28/2026</a:t>
            </a:fld>
            <a:endParaRPr spc="-50" dirty="0"/>
          </a:p>
        </p:txBody>
      </p:sp>
      <p:sp>
        <p:nvSpPr>
          <p:cNvPr id="6" name="Holder 6"/>
          <p:cNvSpPr>
            <a:spLocks noGrp="1"/>
          </p:cNvSpPr>
          <p:nvPr>
            <p:ph type="sldNum" sz="quarter" idx="7"/>
          </p:nvPr>
        </p:nvSpPr>
        <p:spPr/>
        <p:txBody>
          <a:bodyPr lIns="0" tIns="0" rIns="0" bIns="0"/>
          <a:lstStyle>
            <a:lvl1pPr>
              <a:defRPr sz="1400" b="0" i="0">
                <a:solidFill>
                  <a:srgbClr val="001F5F"/>
                </a:solidFill>
                <a:latin typeface="Arial MT"/>
                <a:cs typeface="Arial MT"/>
              </a:defRPr>
            </a:lvl1pPr>
          </a:lstStyle>
          <a:p>
            <a:pPr marL="12700">
              <a:lnSpc>
                <a:spcPts val="165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006FC0"/>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1">
                <a:solidFill>
                  <a:srgbClr val="046F09"/>
                </a:solidFill>
                <a:latin typeface="Times New Roman"/>
                <a:cs typeface="Times New Roman"/>
              </a:defRPr>
            </a:lvl1pPr>
          </a:lstStyle>
          <a:p>
            <a:pPr marL="12700">
              <a:lnSpc>
                <a:spcPts val="1839"/>
              </a:lnSpc>
            </a:pPr>
            <a:endParaRPr spc="-10" dirty="0"/>
          </a:p>
        </p:txBody>
      </p:sp>
      <p:sp>
        <p:nvSpPr>
          <p:cNvPr id="5" name="Holder 5"/>
          <p:cNvSpPr>
            <a:spLocks noGrp="1"/>
          </p:cNvSpPr>
          <p:nvPr>
            <p:ph type="dt" sz="half" idx="6"/>
          </p:nvPr>
        </p:nvSpPr>
        <p:spPr/>
        <p:txBody>
          <a:bodyPr lIns="0" tIns="0" rIns="0" bIns="0"/>
          <a:lstStyle>
            <a:lvl1pPr>
              <a:defRPr sz="1600" b="0" i="1">
                <a:solidFill>
                  <a:srgbClr val="046F09"/>
                </a:solidFill>
                <a:latin typeface="Times New Roman"/>
                <a:cs typeface="Times New Roman"/>
              </a:defRPr>
            </a:lvl1pPr>
          </a:lstStyle>
          <a:p>
            <a:pPr marL="12700">
              <a:lnSpc>
                <a:spcPts val="1839"/>
              </a:lnSpc>
            </a:pPr>
            <a:fld id="{963CFBD8-380A-47D4-8A5A-76317B61413E}" type="datetime1">
              <a:rPr lang="en-US" spc="-50" smtClean="0"/>
              <a:t>4/28/2026</a:t>
            </a:fld>
            <a:endParaRPr spc="-50" dirty="0"/>
          </a:p>
        </p:txBody>
      </p:sp>
      <p:sp>
        <p:nvSpPr>
          <p:cNvPr id="6" name="Holder 6"/>
          <p:cNvSpPr>
            <a:spLocks noGrp="1"/>
          </p:cNvSpPr>
          <p:nvPr>
            <p:ph type="sldNum" sz="quarter" idx="7"/>
          </p:nvPr>
        </p:nvSpPr>
        <p:spPr/>
        <p:txBody>
          <a:bodyPr lIns="0" tIns="0" rIns="0" bIns="0"/>
          <a:lstStyle>
            <a:lvl1pPr>
              <a:defRPr sz="1400" b="0" i="0">
                <a:solidFill>
                  <a:srgbClr val="001F5F"/>
                </a:solidFill>
                <a:latin typeface="Arial MT"/>
                <a:cs typeface="Arial MT"/>
              </a:defRPr>
            </a:lvl1pPr>
          </a:lstStyle>
          <a:p>
            <a:pPr marL="12700">
              <a:lnSpc>
                <a:spcPts val="165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006FC0"/>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1">
                <a:solidFill>
                  <a:srgbClr val="046F09"/>
                </a:solidFill>
                <a:latin typeface="Times New Roman"/>
                <a:cs typeface="Times New Roman"/>
              </a:defRPr>
            </a:lvl1pPr>
          </a:lstStyle>
          <a:p>
            <a:pPr marL="12700">
              <a:lnSpc>
                <a:spcPts val="1839"/>
              </a:lnSpc>
            </a:pPr>
            <a:endParaRPr spc="-10" dirty="0"/>
          </a:p>
        </p:txBody>
      </p:sp>
      <p:sp>
        <p:nvSpPr>
          <p:cNvPr id="6" name="Holder 6"/>
          <p:cNvSpPr>
            <a:spLocks noGrp="1"/>
          </p:cNvSpPr>
          <p:nvPr>
            <p:ph type="dt" sz="half" idx="6"/>
          </p:nvPr>
        </p:nvSpPr>
        <p:spPr/>
        <p:txBody>
          <a:bodyPr lIns="0" tIns="0" rIns="0" bIns="0"/>
          <a:lstStyle>
            <a:lvl1pPr>
              <a:defRPr sz="1600" b="0" i="1">
                <a:solidFill>
                  <a:srgbClr val="046F09"/>
                </a:solidFill>
                <a:latin typeface="Times New Roman"/>
                <a:cs typeface="Times New Roman"/>
              </a:defRPr>
            </a:lvl1pPr>
          </a:lstStyle>
          <a:p>
            <a:pPr marL="12700">
              <a:lnSpc>
                <a:spcPts val="1839"/>
              </a:lnSpc>
            </a:pPr>
            <a:fld id="{9DDDA644-C267-4B48-B977-E99B124770FF}" type="datetime1">
              <a:rPr lang="en-US" spc="-50" smtClean="0"/>
              <a:t>4/28/2026</a:t>
            </a:fld>
            <a:endParaRPr spc="-50" dirty="0"/>
          </a:p>
        </p:txBody>
      </p:sp>
      <p:sp>
        <p:nvSpPr>
          <p:cNvPr id="7" name="Holder 7"/>
          <p:cNvSpPr>
            <a:spLocks noGrp="1"/>
          </p:cNvSpPr>
          <p:nvPr>
            <p:ph type="sldNum" sz="quarter" idx="7"/>
          </p:nvPr>
        </p:nvSpPr>
        <p:spPr/>
        <p:txBody>
          <a:bodyPr lIns="0" tIns="0" rIns="0" bIns="0"/>
          <a:lstStyle>
            <a:lvl1pPr>
              <a:defRPr sz="1400" b="0" i="0">
                <a:solidFill>
                  <a:srgbClr val="001F5F"/>
                </a:solidFill>
                <a:latin typeface="Arial MT"/>
                <a:cs typeface="Arial MT"/>
              </a:defRPr>
            </a:lvl1pPr>
          </a:lstStyle>
          <a:p>
            <a:pPr marL="12700">
              <a:lnSpc>
                <a:spcPts val="165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006FC0"/>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defRPr sz="1600" b="0" i="1">
                <a:solidFill>
                  <a:srgbClr val="046F09"/>
                </a:solidFill>
                <a:latin typeface="Times New Roman"/>
                <a:cs typeface="Times New Roman"/>
              </a:defRPr>
            </a:lvl1pPr>
          </a:lstStyle>
          <a:p>
            <a:pPr marL="12700">
              <a:lnSpc>
                <a:spcPts val="1839"/>
              </a:lnSpc>
            </a:pPr>
            <a:endParaRPr spc="-10" dirty="0"/>
          </a:p>
        </p:txBody>
      </p:sp>
      <p:sp>
        <p:nvSpPr>
          <p:cNvPr id="4" name="Holder 4"/>
          <p:cNvSpPr>
            <a:spLocks noGrp="1"/>
          </p:cNvSpPr>
          <p:nvPr>
            <p:ph type="dt" sz="half" idx="6"/>
          </p:nvPr>
        </p:nvSpPr>
        <p:spPr/>
        <p:txBody>
          <a:bodyPr lIns="0" tIns="0" rIns="0" bIns="0"/>
          <a:lstStyle>
            <a:lvl1pPr>
              <a:defRPr sz="1600" b="0" i="1">
                <a:solidFill>
                  <a:srgbClr val="046F09"/>
                </a:solidFill>
                <a:latin typeface="Times New Roman"/>
                <a:cs typeface="Times New Roman"/>
              </a:defRPr>
            </a:lvl1pPr>
          </a:lstStyle>
          <a:p>
            <a:pPr marL="12700">
              <a:lnSpc>
                <a:spcPts val="1839"/>
              </a:lnSpc>
            </a:pPr>
            <a:fld id="{D890E0E9-2395-432D-AD1E-86D041F84B9B}" type="datetime1">
              <a:rPr lang="en-US" spc="-50" smtClean="0"/>
              <a:t>4/28/2026</a:t>
            </a:fld>
            <a:endParaRPr spc="-50" dirty="0"/>
          </a:p>
        </p:txBody>
      </p:sp>
      <p:sp>
        <p:nvSpPr>
          <p:cNvPr id="5" name="Holder 5"/>
          <p:cNvSpPr>
            <a:spLocks noGrp="1"/>
          </p:cNvSpPr>
          <p:nvPr>
            <p:ph type="sldNum" sz="quarter" idx="7"/>
          </p:nvPr>
        </p:nvSpPr>
        <p:spPr/>
        <p:txBody>
          <a:bodyPr lIns="0" tIns="0" rIns="0" bIns="0"/>
          <a:lstStyle>
            <a:lvl1pPr>
              <a:defRPr sz="1400" b="0" i="0">
                <a:solidFill>
                  <a:srgbClr val="001F5F"/>
                </a:solidFill>
                <a:latin typeface="Arial MT"/>
                <a:cs typeface="Arial MT"/>
              </a:defRPr>
            </a:lvl1pPr>
          </a:lstStyle>
          <a:p>
            <a:pPr marL="12700">
              <a:lnSpc>
                <a:spcPts val="165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1">
                <a:solidFill>
                  <a:srgbClr val="046F09"/>
                </a:solidFill>
                <a:latin typeface="Times New Roman"/>
                <a:cs typeface="Times New Roman"/>
              </a:defRPr>
            </a:lvl1pPr>
          </a:lstStyle>
          <a:p>
            <a:pPr marL="12700">
              <a:lnSpc>
                <a:spcPts val="1839"/>
              </a:lnSpc>
            </a:pPr>
            <a:endParaRPr spc="-10" dirty="0"/>
          </a:p>
        </p:txBody>
      </p:sp>
      <p:sp>
        <p:nvSpPr>
          <p:cNvPr id="3" name="Holder 3"/>
          <p:cNvSpPr>
            <a:spLocks noGrp="1"/>
          </p:cNvSpPr>
          <p:nvPr>
            <p:ph type="dt" sz="half" idx="6"/>
          </p:nvPr>
        </p:nvSpPr>
        <p:spPr/>
        <p:txBody>
          <a:bodyPr lIns="0" tIns="0" rIns="0" bIns="0"/>
          <a:lstStyle>
            <a:lvl1pPr>
              <a:defRPr sz="1600" b="0" i="1">
                <a:solidFill>
                  <a:srgbClr val="046F09"/>
                </a:solidFill>
                <a:latin typeface="Times New Roman"/>
                <a:cs typeface="Times New Roman"/>
              </a:defRPr>
            </a:lvl1pPr>
          </a:lstStyle>
          <a:p>
            <a:pPr marL="12700">
              <a:lnSpc>
                <a:spcPts val="1839"/>
              </a:lnSpc>
            </a:pPr>
            <a:fld id="{0AC3D0B5-AFB9-4120-9538-D7A3FE5E7182}" type="datetime1">
              <a:rPr lang="en-US" spc="-50" smtClean="0"/>
              <a:t>4/28/2026</a:t>
            </a:fld>
            <a:endParaRPr spc="-50" dirty="0"/>
          </a:p>
        </p:txBody>
      </p:sp>
      <p:sp>
        <p:nvSpPr>
          <p:cNvPr id="4" name="Holder 4"/>
          <p:cNvSpPr>
            <a:spLocks noGrp="1"/>
          </p:cNvSpPr>
          <p:nvPr>
            <p:ph type="sldNum" sz="quarter" idx="7"/>
          </p:nvPr>
        </p:nvSpPr>
        <p:spPr/>
        <p:txBody>
          <a:bodyPr lIns="0" tIns="0" rIns="0" bIns="0"/>
          <a:lstStyle>
            <a:lvl1pPr>
              <a:defRPr sz="1400" b="0" i="0">
                <a:solidFill>
                  <a:srgbClr val="001F5F"/>
                </a:solidFill>
                <a:latin typeface="Arial MT"/>
                <a:cs typeface="Arial MT"/>
              </a:defRPr>
            </a:lvl1pPr>
          </a:lstStyle>
          <a:p>
            <a:pPr marL="12700">
              <a:lnSpc>
                <a:spcPts val="165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5343" y="70103"/>
            <a:ext cx="12018645" cy="6693534"/>
          </a:xfrm>
          <a:custGeom>
            <a:avLst/>
            <a:gdLst/>
            <a:ahLst/>
            <a:cxnLst/>
            <a:rect l="l" t="t" r="r" b="b"/>
            <a:pathLst>
              <a:path w="12018645" h="6693534">
                <a:moveTo>
                  <a:pt x="0" y="329946"/>
                </a:moveTo>
                <a:lnTo>
                  <a:pt x="3577" y="281184"/>
                </a:lnTo>
                <a:lnTo>
                  <a:pt x="13968" y="234645"/>
                </a:lnTo>
                <a:lnTo>
                  <a:pt x="30664" y="190840"/>
                </a:lnTo>
                <a:lnTo>
                  <a:pt x="53153" y="150277"/>
                </a:lnTo>
                <a:lnTo>
                  <a:pt x="80925" y="113468"/>
                </a:lnTo>
                <a:lnTo>
                  <a:pt x="113469" y="80923"/>
                </a:lnTo>
                <a:lnTo>
                  <a:pt x="150276" y="53151"/>
                </a:lnTo>
                <a:lnTo>
                  <a:pt x="190835" y="30662"/>
                </a:lnTo>
                <a:lnTo>
                  <a:pt x="234636" y="13967"/>
                </a:lnTo>
                <a:lnTo>
                  <a:pt x="281168" y="3576"/>
                </a:lnTo>
                <a:lnTo>
                  <a:pt x="329920" y="0"/>
                </a:lnTo>
                <a:lnTo>
                  <a:pt x="11688317" y="0"/>
                </a:lnTo>
                <a:lnTo>
                  <a:pt x="11737079" y="3576"/>
                </a:lnTo>
                <a:lnTo>
                  <a:pt x="11783618" y="13967"/>
                </a:lnTo>
                <a:lnTo>
                  <a:pt x="11827423" y="30662"/>
                </a:lnTo>
                <a:lnTo>
                  <a:pt x="11867986" y="53151"/>
                </a:lnTo>
                <a:lnTo>
                  <a:pt x="11904795" y="80923"/>
                </a:lnTo>
                <a:lnTo>
                  <a:pt x="11937340" y="113468"/>
                </a:lnTo>
                <a:lnTo>
                  <a:pt x="11965112" y="150277"/>
                </a:lnTo>
                <a:lnTo>
                  <a:pt x="11987601" y="190840"/>
                </a:lnTo>
                <a:lnTo>
                  <a:pt x="12004296" y="234645"/>
                </a:lnTo>
                <a:lnTo>
                  <a:pt x="12014687" y="281184"/>
                </a:lnTo>
                <a:lnTo>
                  <a:pt x="12018264" y="329946"/>
                </a:lnTo>
                <a:lnTo>
                  <a:pt x="12018264" y="6363487"/>
                </a:lnTo>
                <a:lnTo>
                  <a:pt x="12014687" y="6412239"/>
                </a:lnTo>
                <a:lnTo>
                  <a:pt x="12004296" y="6458771"/>
                </a:lnTo>
                <a:lnTo>
                  <a:pt x="11987601" y="6502572"/>
                </a:lnTo>
                <a:lnTo>
                  <a:pt x="11965112" y="6543131"/>
                </a:lnTo>
                <a:lnTo>
                  <a:pt x="11937340" y="6579938"/>
                </a:lnTo>
                <a:lnTo>
                  <a:pt x="11904795" y="6612482"/>
                </a:lnTo>
                <a:lnTo>
                  <a:pt x="11867986" y="6640254"/>
                </a:lnTo>
                <a:lnTo>
                  <a:pt x="11827423" y="6662743"/>
                </a:lnTo>
                <a:lnTo>
                  <a:pt x="11783618" y="6679439"/>
                </a:lnTo>
                <a:lnTo>
                  <a:pt x="11737079" y="6689830"/>
                </a:lnTo>
                <a:lnTo>
                  <a:pt x="11688317" y="6693408"/>
                </a:lnTo>
                <a:lnTo>
                  <a:pt x="329920" y="6693408"/>
                </a:lnTo>
                <a:lnTo>
                  <a:pt x="281168" y="6689830"/>
                </a:lnTo>
                <a:lnTo>
                  <a:pt x="234636" y="6679439"/>
                </a:lnTo>
                <a:lnTo>
                  <a:pt x="190835" y="6662743"/>
                </a:lnTo>
                <a:lnTo>
                  <a:pt x="150276" y="6640254"/>
                </a:lnTo>
                <a:lnTo>
                  <a:pt x="113469" y="6612482"/>
                </a:lnTo>
                <a:lnTo>
                  <a:pt x="80925" y="6579938"/>
                </a:lnTo>
                <a:lnTo>
                  <a:pt x="53153" y="6543131"/>
                </a:lnTo>
                <a:lnTo>
                  <a:pt x="30664" y="6502572"/>
                </a:lnTo>
                <a:lnTo>
                  <a:pt x="13968" y="6458771"/>
                </a:lnTo>
                <a:lnTo>
                  <a:pt x="3577" y="6412239"/>
                </a:lnTo>
                <a:lnTo>
                  <a:pt x="0" y="6363487"/>
                </a:lnTo>
                <a:lnTo>
                  <a:pt x="0" y="329946"/>
                </a:lnTo>
                <a:close/>
              </a:path>
            </a:pathLst>
          </a:custGeom>
          <a:ln w="6350">
            <a:solidFill>
              <a:srgbClr val="000000"/>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9601200" y="178308"/>
            <a:ext cx="2400300" cy="627888"/>
          </a:xfrm>
          <a:prstGeom prst="rect">
            <a:avLst/>
          </a:prstGeom>
        </p:spPr>
      </p:pic>
      <p:sp>
        <p:nvSpPr>
          <p:cNvPr id="2" name="Holder 2"/>
          <p:cNvSpPr>
            <a:spLocks noGrp="1"/>
          </p:cNvSpPr>
          <p:nvPr>
            <p:ph type="title"/>
          </p:nvPr>
        </p:nvSpPr>
        <p:spPr>
          <a:xfrm>
            <a:off x="273811" y="115011"/>
            <a:ext cx="10224897" cy="1210487"/>
          </a:xfrm>
          <a:prstGeom prst="rect">
            <a:avLst/>
          </a:prstGeom>
        </p:spPr>
        <p:txBody>
          <a:bodyPr wrap="square" lIns="0" tIns="0" rIns="0" bIns="0">
            <a:spAutoFit/>
          </a:bodyPr>
          <a:lstStyle>
            <a:lvl1pPr>
              <a:defRPr sz="4000" b="1" i="0">
                <a:solidFill>
                  <a:srgbClr val="006FC0"/>
                </a:solidFill>
                <a:latin typeface="Cambria"/>
                <a:cs typeface="Cambria"/>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0600435" y="6502524"/>
            <a:ext cx="851534" cy="250190"/>
          </a:xfrm>
          <a:prstGeom prst="rect">
            <a:avLst/>
          </a:prstGeom>
        </p:spPr>
        <p:txBody>
          <a:bodyPr wrap="square" lIns="0" tIns="0" rIns="0" bIns="0">
            <a:spAutoFit/>
          </a:bodyPr>
          <a:lstStyle>
            <a:lvl1pPr>
              <a:defRPr sz="1600" b="0" i="1">
                <a:solidFill>
                  <a:srgbClr val="046F09"/>
                </a:solidFill>
                <a:latin typeface="Times New Roman"/>
                <a:cs typeface="Times New Roman"/>
              </a:defRPr>
            </a:lvl1pPr>
          </a:lstStyle>
          <a:p>
            <a:pPr marL="12700">
              <a:lnSpc>
                <a:spcPts val="1839"/>
              </a:lnSpc>
            </a:pPr>
            <a:endParaRPr spc="-10" dirty="0"/>
          </a:p>
        </p:txBody>
      </p:sp>
      <p:sp>
        <p:nvSpPr>
          <p:cNvPr id="5" name="Holder 5"/>
          <p:cNvSpPr>
            <a:spLocks noGrp="1"/>
          </p:cNvSpPr>
          <p:nvPr>
            <p:ph type="dt" sz="half" idx="6"/>
          </p:nvPr>
        </p:nvSpPr>
        <p:spPr>
          <a:xfrm>
            <a:off x="891641" y="6511973"/>
            <a:ext cx="1494155" cy="250190"/>
          </a:xfrm>
          <a:prstGeom prst="rect">
            <a:avLst/>
          </a:prstGeom>
        </p:spPr>
        <p:txBody>
          <a:bodyPr wrap="square" lIns="0" tIns="0" rIns="0" bIns="0">
            <a:spAutoFit/>
          </a:bodyPr>
          <a:lstStyle>
            <a:lvl1pPr>
              <a:defRPr sz="1600" b="0" i="1">
                <a:solidFill>
                  <a:srgbClr val="046F09"/>
                </a:solidFill>
                <a:latin typeface="Times New Roman"/>
                <a:cs typeface="Times New Roman"/>
              </a:defRPr>
            </a:lvl1pPr>
          </a:lstStyle>
          <a:p>
            <a:pPr marL="12700">
              <a:lnSpc>
                <a:spcPts val="1839"/>
              </a:lnSpc>
            </a:pPr>
            <a:fld id="{ABC4B051-F902-48D0-869B-7E5E9922067F}" type="datetime1">
              <a:rPr lang="en-US" spc="-50" smtClean="0"/>
              <a:t>4/28/2026</a:t>
            </a:fld>
            <a:endParaRPr spc="-50" dirty="0"/>
          </a:p>
        </p:txBody>
      </p:sp>
      <p:sp>
        <p:nvSpPr>
          <p:cNvPr id="6" name="Holder 6"/>
          <p:cNvSpPr>
            <a:spLocks noGrp="1"/>
          </p:cNvSpPr>
          <p:nvPr>
            <p:ph type="sldNum" sz="quarter" idx="7"/>
          </p:nvPr>
        </p:nvSpPr>
        <p:spPr>
          <a:xfrm>
            <a:off x="388111" y="6331533"/>
            <a:ext cx="223520" cy="224790"/>
          </a:xfrm>
          <a:prstGeom prst="rect">
            <a:avLst/>
          </a:prstGeom>
        </p:spPr>
        <p:txBody>
          <a:bodyPr wrap="square" lIns="0" tIns="0" rIns="0" bIns="0">
            <a:spAutoFit/>
          </a:bodyPr>
          <a:lstStyle>
            <a:lvl1pPr>
              <a:defRPr sz="1400" b="0" i="0">
                <a:solidFill>
                  <a:srgbClr val="001F5F"/>
                </a:solidFill>
                <a:latin typeface="Arial MT"/>
                <a:cs typeface="Arial MT"/>
              </a:defRPr>
            </a:lvl1pPr>
          </a:lstStyle>
          <a:p>
            <a:pPr marL="12700">
              <a:lnSpc>
                <a:spcPts val="165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oi.org/10.1109/TIFS.2025.3574992"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0600" y="3205250"/>
            <a:ext cx="10027159" cy="1490152"/>
          </a:xfrm>
          <a:prstGeom prst="rect">
            <a:avLst/>
          </a:prstGeom>
        </p:spPr>
        <p:txBody>
          <a:bodyPr vert="horz" wrap="square" lIns="0" tIns="12700" rIns="0" bIns="0" rtlCol="0">
            <a:spAutoFit/>
          </a:bodyPr>
          <a:lstStyle/>
          <a:p>
            <a:pPr algn="just"/>
            <a:r>
              <a:rPr lang="en-US" sz="2400" dirty="0">
                <a:solidFill>
                  <a:schemeClr val="tx1"/>
                </a:solidFill>
                <a:latin typeface="Times New Roman" panose="02020603050405020304" pitchFamily="18" charset="0"/>
                <a:cs typeface="Times New Roman" panose="02020603050405020304" pitchFamily="18" charset="0"/>
              </a:rPr>
              <a:t>A MULTI-CLASS BEHAVIORAL SECURITY FRAMEWORK FOR INSIDER THREAT AND LLM-ASSISTED MISUSE DETECTION USING KEYSTROKE DYNAMICS </a:t>
            </a:r>
            <a:endParaRPr sz="2400" dirty="0"/>
          </a:p>
          <a:p>
            <a:pPr algn="just"/>
            <a:endParaRPr sz="2400" dirty="0"/>
          </a:p>
        </p:txBody>
      </p:sp>
      <p:sp>
        <p:nvSpPr>
          <p:cNvPr id="8" name="object 8"/>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9" name="object 9"/>
          <p:cNvSpPr txBox="1"/>
          <p:nvPr/>
        </p:nvSpPr>
        <p:spPr>
          <a:xfrm>
            <a:off x="436880" y="6314643"/>
            <a:ext cx="125095" cy="23939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001F5F"/>
                </a:solidFill>
                <a:latin typeface="Arial MT"/>
                <a:cs typeface="Arial MT"/>
              </a:rPr>
              <a:t>1</a:t>
            </a:r>
            <a:endParaRPr sz="1400">
              <a:latin typeface="Arial MT"/>
              <a:cs typeface="Arial MT"/>
            </a:endParaRPr>
          </a:p>
        </p:txBody>
      </p:sp>
      <p:grpSp>
        <p:nvGrpSpPr>
          <p:cNvPr id="13" name="object 13"/>
          <p:cNvGrpSpPr/>
          <p:nvPr/>
        </p:nvGrpSpPr>
        <p:grpSpPr>
          <a:xfrm>
            <a:off x="1295400" y="152400"/>
            <a:ext cx="10637520" cy="2100580"/>
            <a:chOff x="1295400" y="152400"/>
            <a:chExt cx="10637520" cy="2100580"/>
          </a:xfrm>
        </p:grpSpPr>
        <p:sp>
          <p:nvSpPr>
            <p:cNvPr id="14" name="object 14"/>
            <p:cNvSpPr/>
            <p:nvPr/>
          </p:nvSpPr>
          <p:spPr>
            <a:xfrm>
              <a:off x="9601200" y="152400"/>
              <a:ext cx="2331720" cy="1369060"/>
            </a:xfrm>
            <a:custGeom>
              <a:avLst/>
              <a:gdLst/>
              <a:ahLst/>
              <a:cxnLst/>
              <a:rect l="l" t="t" r="r" b="b"/>
              <a:pathLst>
                <a:path w="2331720" h="1369060">
                  <a:moveTo>
                    <a:pt x="2331720" y="0"/>
                  </a:moveTo>
                  <a:lnTo>
                    <a:pt x="0" y="0"/>
                  </a:lnTo>
                  <a:lnTo>
                    <a:pt x="0" y="1368552"/>
                  </a:lnTo>
                  <a:lnTo>
                    <a:pt x="2331720" y="1368552"/>
                  </a:lnTo>
                  <a:lnTo>
                    <a:pt x="2331720" y="0"/>
                  </a:lnTo>
                  <a:close/>
                </a:path>
              </a:pathLst>
            </a:custGeom>
            <a:solidFill>
              <a:srgbClr val="FFFFFF"/>
            </a:solidFill>
          </p:spPr>
          <p:txBody>
            <a:bodyPr wrap="square" lIns="0" tIns="0" rIns="0" bIns="0" rtlCol="0"/>
            <a:lstStyle/>
            <a:p>
              <a:endParaRPr/>
            </a:p>
          </p:txBody>
        </p:sp>
        <p:pic>
          <p:nvPicPr>
            <p:cNvPr id="15" name="object 15"/>
            <p:cNvPicPr/>
            <p:nvPr/>
          </p:nvPicPr>
          <p:blipFill>
            <a:blip r:embed="rId2" cstate="print"/>
            <a:stretch>
              <a:fillRect/>
            </a:stretch>
          </p:blipFill>
          <p:spPr>
            <a:xfrm>
              <a:off x="1295400" y="304800"/>
              <a:ext cx="8753856" cy="1947672"/>
            </a:xfrm>
            <a:prstGeom prst="rect">
              <a:avLst/>
            </a:prstGeom>
          </p:spPr>
        </p:pic>
      </p:grpSp>
      <p:sp>
        <p:nvSpPr>
          <p:cNvPr id="16" name="object 16"/>
          <p:cNvSpPr txBox="1"/>
          <p:nvPr/>
        </p:nvSpPr>
        <p:spPr>
          <a:xfrm>
            <a:off x="8363848" y="5105400"/>
            <a:ext cx="3640455" cy="2475678"/>
          </a:xfrm>
          <a:prstGeom prst="rect">
            <a:avLst/>
          </a:prstGeom>
        </p:spPr>
        <p:txBody>
          <a:bodyPr vert="horz" wrap="square" lIns="0" tIns="13335" rIns="0" bIns="0" rtlCol="0">
            <a:spAutoFit/>
          </a:bodyPr>
          <a:lstStyle/>
          <a:p>
            <a:pPr marL="1233170">
              <a:lnSpc>
                <a:spcPct val="100000"/>
              </a:lnSpc>
              <a:spcBef>
                <a:spcPts val="105"/>
              </a:spcBef>
            </a:pPr>
            <a:r>
              <a:rPr b="1" dirty="0">
                <a:solidFill>
                  <a:srgbClr val="C00000"/>
                </a:solidFill>
                <a:latin typeface="Times New Roman" panose="02020603050405020304" pitchFamily="18" charset="0"/>
                <a:cs typeface="Times New Roman" panose="02020603050405020304" pitchFamily="18" charset="0"/>
              </a:rPr>
              <a:t>Presented</a:t>
            </a:r>
            <a:r>
              <a:rPr b="1" spc="-15" dirty="0">
                <a:solidFill>
                  <a:srgbClr val="C00000"/>
                </a:solidFill>
                <a:latin typeface="Times New Roman" panose="02020603050405020304" pitchFamily="18" charset="0"/>
                <a:cs typeface="Times New Roman" panose="02020603050405020304" pitchFamily="18" charset="0"/>
              </a:rPr>
              <a:t> </a:t>
            </a:r>
            <a:r>
              <a:rPr b="1" spc="-25" dirty="0">
                <a:solidFill>
                  <a:srgbClr val="C00000"/>
                </a:solidFill>
                <a:latin typeface="Times New Roman" panose="02020603050405020304" pitchFamily="18" charset="0"/>
                <a:cs typeface="Times New Roman" panose="02020603050405020304" pitchFamily="18" charset="0"/>
              </a:rPr>
              <a:t>by,</a:t>
            </a:r>
            <a:endParaRPr dirty="0">
              <a:latin typeface="Times New Roman" panose="02020603050405020304" pitchFamily="18" charset="0"/>
              <a:cs typeface="Times New Roman" panose="02020603050405020304" pitchFamily="18" charset="0"/>
            </a:endParaRPr>
          </a:p>
          <a:p>
            <a:pPr marL="1149350" algn="l">
              <a:lnSpc>
                <a:spcPct val="100000"/>
              </a:lnSpc>
              <a:spcBef>
                <a:spcPts val="35"/>
              </a:spcBef>
            </a:pPr>
            <a:r>
              <a:rPr lang="en-IN" sz="2000" b="1" dirty="0">
                <a:solidFill>
                  <a:schemeClr val="tx2">
                    <a:lumMod val="75000"/>
                  </a:schemeClr>
                </a:solidFill>
                <a:latin typeface="Times New Roman" panose="02020603050405020304" pitchFamily="18" charset="0"/>
                <a:cs typeface="Times New Roman" panose="02020603050405020304" pitchFamily="18" charset="0"/>
              </a:rPr>
              <a:t>Raja Rajeswaran .A</a:t>
            </a:r>
            <a:br>
              <a:rPr lang="en-IN" sz="2000" b="1" dirty="0">
                <a:solidFill>
                  <a:schemeClr val="tx2">
                    <a:lumMod val="75000"/>
                  </a:schemeClr>
                </a:solidFill>
                <a:latin typeface="Times New Roman" panose="02020603050405020304" pitchFamily="18" charset="0"/>
                <a:cs typeface="Times New Roman" panose="02020603050405020304" pitchFamily="18" charset="0"/>
              </a:rPr>
            </a:br>
            <a:r>
              <a:rPr lang="en-IN" sz="2000" b="1" dirty="0">
                <a:solidFill>
                  <a:schemeClr val="tx2">
                    <a:lumMod val="75000"/>
                  </a:schemeClr>
                </a:solidFill>
                <a:latin typeface="Times New Roman" panose="02020603050405020304" pitchFamily="18" charset="0"/>
                <a:cs typeface="Times New Roman" panose="02020603050405020304" pitchFamily="18" charset="0"/>
              </a:rPr>
              <a:t>126033005</a:t>
            </a:r>
            <a:br>
              <a:rPr lang="en-IN" sz="2000" b="1" dirty="0">
                <a:solidFill>
                  <a:schemeClr val="tx2">
                    <a:lumMod val="75000"/>
                  </a:schemeClr>
                </a:solidFill>
                <a:latin typeface="Times New Roman" panose="02020603050405020304" pitchFamily="18" charset="0"/>
                <a:cs typeface="Times New Roman" panose="02020603050405020304" pitchFamily="18" charset="0"/>
              </a:rPr>
            </a:br>
            <a:r>
              <a:rPr lang="en-IN" sz="2000" b="1" dirty="0">
                <a:solidFill>
                  <a:schemeClr val="tx2">
                    <a:lumMod val="75000"/>
                  </a:schemeClr>
                </a:solidFill>
                <a:latin typeface="Times New Roman" panose="02020603050405020304" pitchFamily="18" charset="0"/>
                <a:cs typeface="Times New Roman" panose="02020603050405020304" pitchFamily="18" charset="0"/>
              </a:rPr>
              <a:t>M.Tech CSE</a:t>
            </a:r>
          </a:p>
          <a:p>
            <a:pPr marL="1149350" algn="l">
              <a:lnSpc>
                <a:spcPct val="100000"/>
              </a:lnSpc>
              <a:spcBef>
                <a:spcPts val="35"/>
              </a:spcBef>
            </a:pPr>
            <a:r>
              <a:rPr lang="en-IN" sz="2000" b="1" dirty="0">
                <a:solidFill>
                  <a:schemeClr val="tx2">
                    <a:lumMod val="75000"/>
                  </a:schemeClr>
                </a:solidFill>
                <a:latin typeface="Times New Roman" panose="02020603050405020304" pitchFamily="18" charset="0"/>
                <a:cs typeface="Times New Roman" panose="02020603050405020304" pitchFamily="18" charset="0"/>
              </a:rPr>
              <a:t>2025-2026</a:t>
            </a:r>
          </a:p>
          <a:p>
            <a:pPr marL="1149350" algn="l">
              <a:lnSpc>
                <a:spcPct val="100000"/>
              </a:lnSpc>
              <a:spcBef>
                <a:spcPts val="35"/>
              </a:spcBef>
            </a:pPr>
            <a:endParaRPr sz="2000" dirty="0">
              <a:solidFill>
                <a:schemeClr val="tx2">
                  <a:lumMod val="75000"/>
                </a:schemeClr>
              </a:solidFill>
              <a:latin typeface="Times New Roman" panose="02020603050405020304" pitchFamily="18" charset="0"/>
              <a:cs typeface="Times New Roman" panose="02020603050405020304" pitchFamily="18" charset="0"/>
            </a:endParaRPr>
          </a:p>
          <a:p>
            <a:pPr>
              <a:lnSpc>
                <a:spcPct val="100000"/>
              </a:lnSpc>
              <a:spcBef>
                <a:spcPts val="2425"/>
              </a:spcBef>
            </a:pPr>
            <a:endParaRPr sz="2200" dirty="0">
              <a:latin typeface="Palatino Linotype"/>
              <a:cs typeface="Palatino Linotype"/>
            </a:endParaRPr>
          </a:p>
        </p:txBody>
      </p:sp>
      <p:sp>
        <p:nvSpPr>
          <p:cNvPr id="17" name="TextBox 16">
            <a:extLst>
              <a:ext uri="{FF2B5EF4-FFF2-40B4-BE49-F238E27FC236}">
                <a16:creationId xmlns:a16="http://schemas.microsoft.com/office/drawing/2014/main" id="{A64DAF29-7A0E-AB77-9E4D-B7612B36AB4E}"/>
              </a:ext>
            </a:extLst>
          </p:cNvPr>
          <p:cNvSpPr txBox="1"/>
          <p:nvPr/>
        </p:nvSpPr>
        <p:spPr>
          <a:xfrm>
            <a:off x="561975" y="5181600"/>
            <a:ext cx="3857625" cy="1200329"/>
          </a:xfrm>
          <a:prstGeom prst="rect">
            <a:avLst/>
          </a:prstGeom>
          <a:noFill/>
        </p:spPr>
        <p:txBody>
          <a:bodyPr wrap="square" rtlCol="0">
            <a:spAutoFit/>
          </a:bodyPr>
          <a:lstStyle/>
          <a:p>
            <a:pPr algn="ctr">
              <a:lnSpc>
                <a:spcPct val="100000"/>
              </a:lnSpc>
            </a:pPr>
            <a:r>
              <a:rPr lang="en-US" b="1" dirty="0">
                <a:solidFill>
                  <a:srgbClr val="C00000"/>
                </a:solidFill>
                <a:latin typeface="Times New Roman" panose="02020603050405020304" pitchFamily="18" charset="0"/>
                <a:cs typeface="Times New Roman" panose="02020603050405020304" pitchFamily="18" charset="0"/>
              </a:rPr>
              <a:t>Guided</a:t>
            </a:r>
            <a:r>
              <a:rPr lang="en-US" b="1" spc="-20" dirty="0">
                <a:solidFill>
                  <a:srgbClr val="C00000"/>
                </a:solidFill>
                <a:latin typeface="Times New Roman" panose="02020603050405020304" pitchFamily="18" charset="0"/>
                <a:cs typeface="Times New Roman" panose="02020603050405020304" pitchFamily="18" charset="0"/>
              </a:rPr>
              <a:t> </a:t>
            </a:r>
            <a:r>
              <a:rPr lang="en-US" b="1" spc="-25" dirty="0">
                <a:solidFill>
                  <a:srgbClr val="C00000"/>
                </a:solidFill>
                <a:latin typeface="Times New Roman" panose="02020603050405020304" pitchFamily="18" charset="0"/>
                <a:cs typeface="Times New Roman" panose="02020603050405020304" pitchFamily="18" charset="0"/>
              </a:rPr>
              <a:t>By,</a:t>
            </a:r>
            <a:endParaRPr lang="en-US" dirty="0">
              <a:latin typeface="Times New Roman" panose="02020603050405020304" pitchFamily="18" charset="0"/>
              <a:cs typeface="Times New Roman" panose="02020603050405020304" pitchFamily="18" charset="0"/>
            </a:endParaRPr>
          </a:p>
          <a:p>
            <a:pPr marL="3175" algn="ctr">
              <a:lnSpc>
                <a:spcPct val="100000"/>
              </a:lnSpc>
              <a:spcBef>
                <a:spcPts val="35"/>
              </a:spcBef>
            </a:pPr>
            <a:r>
              <a:rPr lang="en-US" sz="1800" b="1" spc="-10" dirty="0">
                <a:solidFill>
                  <a:srgbClr val="001F5F"/>
                </a:solidFill>
                <a:latin typeface="Times New Roman" panose="02020603050405020304" pitchFamily="18" charset="0"/>
                <a:cs typeface="Times New Roman" panose="02020603050405020304" pitchFamily="18" charset="0"/>
              </a:rPr>
              <a:t>Dr. V.S. Shankar Sriram</a:t>
            </a:r>
            <a:endParaRPr lang="en-US" sz="1800" dirty="0">
              <a:latin typeface="Times New Roman" panose="02020603050405020304" pitchFamily="18" charset="0"/>
              <a:cs typeface="Times New Roman" panose="02020603050405020304" pitchFamily="18" charset="0"/>
            </a:endParaRPr>
          </a:p>
          <a:p>
            <a:pPr algn="ctr">
              <a:lnSpc>
                <a:spcPct val="100000"/>
              </a:lnSpc>
            </a:pPr>
            <a:r>
              <a:rPr lang="en-US" b="1" i="1" dirty="0">
                <a:solidFill>
                  <a:srgbClr val="C00000"/>
                </a:solidFill>
                <a:latin typeface="Times New Roman" panose="02020603050405020304" pitchFamily="18" charset="0"/>
                <a:cs typeface="Times New Roman" panose="02020603050405020304" pitchFamily="18" charset="0"/>
              </a:rPr>
              <a:t>Dean</a:t>
            </a:r>
            <a:r>
              <a:rPr lang="en-US" sz="1800" b="1" i="1" dirty="0">
                <a:solidFill>
                  <a:srgbClr val="C00000"/>
                </a:solidFill>
                <a:latin typeface="Times New Roman" panose="02020603050405020304" pitchFamily="18" charset="0"/>
                <a:cs typeface="Times New Roman" panose="02020603050405020304" pitchFamily="18" charset="0"/>
              </a:rPr>
              <a:t>,</a:t>
            </a:r>
            <a:r>
              <a:rPr lang="en-US" sz="1800" b="1" i="1" spc="-25" dirty="0">
                <a:solidFill>
                  <a:srgbClr val="C00000"/>
                </a:solidFill>
                <a:latin typeface="Times New Roman" panose="02020603050405020304" pitchFamily="18" charset="0"/>
                <a:cs typeface="Times New Roman" panose="02020603050405020304" pitchFamily="18" charset="0"/>
              </a:rPr>
              <a:t> </a:t>
            </a:r>
            <a:r>
              <a:rPr lang="en-US" sz="1800" b="1" i="1" dirty="0">
                <a:solidFill>
                  <a:srgbClr val="C00000"/>
                </a:solidFill>
                <a:latin typeface="Times New Roman" panose="02020603050405020304" pitchFamily="18" charset="0"/>
                <a:cs typeface="Times New Roman" panose="02020603050405020304" pitchFamily="18" charset="0"/>
              </a:rPr>
              <a:t>School</a:t>
            </a:r>
            <a:r>
              <a:rPr lang="en-US" sz="1800" b="1" i="1" spc="-25" dirty="0">
                <a:solidFill>
                  <a:srgbClr val="C00000"/>
                </a:solidFill>
                <a:latin typeface="Times New Roman" panose="02020603050405020304" pitchFamily="18" charset="0"/>
                <a:cs typeface="Times New Roman" panose="02020603050405020304" pitchFamily="18" charset="0"/>
              </a:rPr>
              <a:t> </a:t>
            </a:r>
            <a:r>
              <a:rPr lang="en-US" sz="1800" b="1" i="1" dirty="0">
                <a:solidFill>
                  <a:srgbClr val="C00000"/>
                </a:solidFill>
                <a:latin typeface="Times New Roman" panose="02020603050405020304" pitchFamily="18" charset="0"/>
                <a:cs typeface="Times New Roman" panose="02020603050405020304" pitchFamily="18" charset="0"/>
              </a:rPr>
              <a:t>of</a:t>
            </a:r>
            <a:r>
              <a:rPr lang="en-US" sz="1800" b="1" i="1" spc="-30" dirty="0">
                <a:solidFill>
                  <a:srgbClr val="C00000"/>
                </a:solidFill>
                <a:latin typeface="Times New Roman" panose="02020603050405020304" pitchFamily="18" charset="0"/>
                <a:cs typeface="Times New Roman" panose="02020603050405020304" pitchFamily="18" charset="0"/>
              </a:rPr>
              <a:t> </a:t>
            </a:r>
            <a:r>
              <a:rPr lang="en-US" sz="1800" b="1" i="1" spc="-10" dirty="0">
                <a:solidFill>
                  <a:srgbClr val="C00000"/>
                </a:solidFill>
                <a:latin typeface="Times New Roman" panose="02020603050405020304" pitchFamily="18" charset="0"/>
                <a:cs typeface="Times New Roman" panose="02020603050405020304" pitchFamily="18" charset="0"/>
              </a:rPr>
              <a:t>Computing</a:t>
            </a:r>
            <a:endParaRPr lang="en-US" sz="1800" dirty="0">
              <a:latin typeface="Times New Roman" panose="02020603050405020304" pitchFamily="18" charset="0"/>
              <a:cs typeface="Times New Roman" panose="02020603050405020304" pitchFamily="18" charset="0"/>
            </a:endParaRPr>
          </a:p>
          <a:p>
            <a:endParaRPr lang="en-IN" dirty="0"/>
          </a:p>
        </p:txBody>
      </p:sp>
      <p:sp>
        <p:nvSpPr>
          <p:cNvPr id="2" name="Date Placeholder 1">
            <a:extLst>
              <a:ext uri="{FF2B5EF4-FFF2-40B4-BE49-F238E27FC236}">
                <a16:creationId xmlns:a16="http://schemas.microsoft.com/office/drawing/2014/main" id="{3CAD8658-FC9F-2758-721E-D97B496A5C29}"/>
              </a:ext>
            </a:extLst>
          </p:cNvPr>
          <p:cNvSpPr>
            <a:spLocks noGrp="1"/>
          </p:cNvSpPr>
          <p:nvPr>
            <p:ph type="dt" sz="half" idx="6"/>
          </p:nvPr>
        </p:nvSpPr>
        <p:spPr/>
        <p:txBody>
          <a:bodyPr/>
          <a:lstStyle/>
          <a:p>
            <a:pPr marL="12700">
              <a:lnSpc>
                <a:spcPts val="1839"/>
              </a:lnSpc>
            </a:pPr>
            <a:fld id="{C696832E-9C24-47F9-B219-342D28B86D1C}" type="datetime1">
              <a:rPr lang="en-US" spc="-50" smtClean="0"/>
              <a:t>4/28/2026</a:t>
            </a:fld>
            <a:endParaRPr lang="en-US"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4B610-105D-5975-D000-91EA01A7BC8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4049F20-757F-7840-DCF5-4ECA61140257}"/>
              </a:ext>
            </a:extLst>
          </p:cNvPr>
          <p:cNvSpPr txBox="1">
            <a:spLocks noGrp="1"/>
          </p:cNvSpPr>
          <p:nvPr>
            <p:ph type="title"/>
          </p:nvPr>
        </p:nvSpPr>
        <p:spPr>
          <a:xfrm>
            <a:off x="304800" y="-408777"/>
            <a:ext cx="2393189" cy="1128436"/>
          </a:xfrm>
          <a:prstGeom prst="rect">
            <a:avLst/>
          </a:prstGeom>
        </p:spPr>
        <p:txBody>
          <a:bodyPr vert="horz" wrap="square" lIns="0" tIns="507923" rIns="0" bIns="0" rtlCol="0">
            <a:spAutoFit/>
          </a:bodyPr>
          <a:lstStyle/>
          <a:p>
            <a:r>
              <a:rPr lang="en-IN" dirty="0">
                <a:solidFill>
                  <a:schemeClr val="tx1"/>
                </a:solidFill>
              </a:rPr>
              <a:t>Contents</a:t>
            </a:r>
          </a:p>
        </p:txBody>
      </p:sp>
      <p:sp>
        <p:nvSpPr>
          <p:cNvPr id="4" name="object 4">
            <a:extLst>
              <a:ext uri="{FF2B5EF4-FFF2-40B4-BE49-F238E27FC236}">
                <a16:creationId xmlns:a16="http://schemas.microsoft.com/office/drawing/2014/main" id="{27514261-83B6-B511-8F8A-CBC4498092C9}"/>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3" name="object 13">
            <a:extLst>
              <a:ext uri="{FF2B5EF4-FFF2-40B4-BE49-F238E27FC236}">
                <a16:creationId xmlns:a16="http://schemas.microsoft.com/office/drawing/2014/main" id="{8BF4EF7F-09B5-A7A3-F12F-AC51285DAED7}"/>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7B599589-C375-4D16-8B10-FCE3D8227860}" type="datetime1">
              <a:rPr lang="en-US" spc="-50" smtClean="0"/>
              <a:t>4/28/2026</a:t>
            </a:fld>
            <a:endParaRPr spc="-50" dirty="0"/>
          </a:p>
        </p:txBody>
      </p:sp>
      <p:sp>
        <p:nvSpPr>
          <p:cNvPr id="2" name="Slide Number Placeholder 1">
            <a:extLst>
              <a:ext uri="{FF2B5EF4-FFF2-40B4-BE49-F238E27FC236}">
                <a16:creationId xmlns:a16="http://schemas.microsoft.com/office/drawing/2014/main" id="{4E3B132A-F2FD-CF77-55FC-3E97EDC49799}"/>
              </a:ext>
            </a:extLst>
          </p:cNvPr>
          <p:cNvSpPr>
            <a:spLocks noGrp="1"/>
          </p:cNvSpPr>
          <p:nvPr>
            <p:ph type="sldNum" sz="quarter" idx="7"/>
          </p:nvPr>
        </p:nvSpPr>
        <p:spPr/>
        <p:txBody>
          <a:bodyPr/>
          <a:lstStyle/>
          <a:p>
            <a:pPr marL="12700">
              <a:lnSpc>
                <a:spcPts val="1650"/>
              </a:lnSpc>
            </a:pPr>
            <a:fld id="{81D60167-4931-47E6-BA6A-407CBD079E47}" type="slidenum">
              <a:rPr lang="en-IN" spc="-25" smtClean="0"/>
              <a:t>2</a:t>
            </a:fld>
            <a:endParaRPr lang="en-IN" spc="-25" dirty="0"/>
          </a:p>
        </p:txBody>
      </p:sp>
      <p:sp>
        <p:nvSpPr>
          <p:cNvPr id="11" name="Rectangle 6">
            <a:extLst>
              <a:ext uri="{FF2B5EF4-FFF2-40B4-BE49-F238E27FC236}">
                <a16:creationId xmlns:a16="http://schemas.microsoft.com/office/drawing/2014/main" id="{010E6590-2D24-45CB-823D-4A3E7EE5EC1E}"/>
              </a:ext>
            </a:extLst>
          </p:cNvPr>
          <p:cNvSpPr>
            <a:spLocks noChangeArrowheads="1"/>
          </p:cNvSpPr>
          <p:nvPr/>
        </p:nvSpPr>
        <p:spPr bwMode="auto">
          <a:xfrm rot="10800000" flipH="1" flipV="1">
            <a:off x="891641" y="514556"/>
            <a:ext cx="4031489"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Motivation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 Paper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Statement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Literature Survey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Methodology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Workflow Diagram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Proposed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Work </a:t>
            </a:r>
          </a:p>
        </p:txBody>
      </p:sp>
    </p:spTree>
    <p:extLst>
      <p:ext uri="{BB962C8B-B14F-4D97-AF65-F5344CB8AC3E}">
        <p14:creationId xmlns:p14="http://schemas.microsoft.com/office/powerpoint/2010/main" val="3318792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C8E80-AA08-0E44-6EA3-F28EF38600B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7719E1F-1765-7459-CEBC-44FC13395B78}"/>
              </a:ext>
            </a:extLst>
          </p:cNvPr>
          <p:cNvSpPr txBox="1">
            <a:spLocks noGrp="1"/>
          </p:cNvSpPr>
          <p:nvPr>
            <p:ph type="title"/>
          </p:nvPr>
        </p:nvSpPr>
        <p:spPr>
          <a:xfrm>
            <a:off x="0" y="-371722"/>
            <a:ext cx="5257800" cy="1205765"/>
          </a:xfrm>
          <a:prstGeom prst="rect">
            <a:avLst/>
          </a:prstGeom>
        </p:spPr>
        <p:txBody>
          <a:bodyPr vert="horz" wrap="square" lIns="0" tIns="584504" rIns="0" bIns="0" rtlCol="0">
            <a:spAutoFit/>
          </a:bodyPr>
          <a:lstStyle/>
          <a:p>
            <a:pPr marL="1036955">
              <a:lnSpc>
                <a:spcPct val="100000"/>
              </a:lnSpc>
              <a:spcBef>
                <a:spcPts val="95"/>
              </a:spcBef>
            </a:pPr>
            <a:r>
              <a:rPr dirty="0">
                <a:solidFill>
                  <a:schemeClr val="tx1"/>
                </a:solidFill>
                <a:latin typeface="Times New Roman"/>
                <a:cs typeface="Times New Roman"/>
              </a:rPr>
              <a:t>Base</a:t>
            </a:r>
            <a:r>
              <a:rPr spc="-90" dirty="0">
                <a:solidFill>
                  <a:schemeClr val="tx1"/>
                </a:solidFill>
                <a:latin typeface="Times New Roman"/>
                <a:cs typeface="Times New Roman"/>
              </a:rPr>
              <a:t> </a:t>
            </a:r>
            <a:r>
              <a:rPr lang="en-IN" spc="-90" dirty="0">
                <a:solidFill>
                  <a:schemeClr val="tx1"/>
                </a:solidFill>
                <a:latin typeface="Times New Roman"/>
                <a:cs typeface="Times New Roman"/>
              </a:rPr>
              <a:t>P</a:t>
            </a:r>
            <a:r>
              <a:rPr dirty="0">
                <a:solidFill>
                  <a:schemeClr val="tx1"/>
                </a:solidFill>
                <a:latin typeface="Times New Roman"/>
                <a:cs typeface="Times New Roman"/>
              </a:rPr>
              <a:t>aper</a:t>
            </a:r>
            <a:r>
              <a:rPr spc="-85" dirty="0">
                <a:solidFill>
                  <a:schemeClr val="tx1"/>
                </a:solidFill>
                <a:latin typeface="Times New Roman"/>
                <a:cs typeface="Times New Roman"/>
              </a:rPr>
              <a:t> </a:t>
            </a:r>
            <a:r>
              <a:rPr spc="-10" dirty="0">
                <a:solidFill>
                  <a:schemeClr val="tx1"/>
                </a:solidFill>
                <a:latin typeface="Times New Roman"/>
                <a:cs typeface="Times New Roman"/>
              </a:rPr>
              <a:t>Details</a:t>
            </a:r>
          </a:p>
        </p:txBody>
      </p:sp>
      <p:sp>
        <p:nvSpPr>
          <p:cNvPr id="3" name="object 3">
            <a:extLst>
              <a:ext uri="{FF2B5EF4-FFF2-40B4-BE49-F238E27FC236}">
                <a16:creationId xmlns:a16="http://schemas.microsoft.com/office/drawing/2014/main" id="{C1F76FCB-6AB2-D661-3945-6A74D01A09CA}"/>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6" name="object 16">
            <a:extLst>
              <a:ext uri="{FF2B5EF4-FFF2-40B4-BE49-F238E27FC236}">
                <a16:creationId xmlns:a16="http://schemas.microsoft.com/office/drawing/2014/main" id="{AEDF0CDB-D328-F6CD-4EC7-C7BEF3AD7510}"/>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28DA4269-950C-463A-862A-1C5224DEAE20}" type="datetime1">
              <a:rPr lang="en-US" spc="-50" smtClean="0"/>
              <a:t>4/28/2026</a:t>
            </a:fld>
            <a:endParaRPr spc="-50" dirty="0"/>
          </a:p>
        </p:txBody>
      </p:sp>
      <p:sp>
        <p:nvSpPr>
          <p:cNvPr id="17" name="TextBox 16">
            <a:extLst>
              <a:ext uri="{FF2B5EF4-FFF2-40B4-BE49-F238E27FC236}">
                <a16:creationId xmlns:a16="http://schemas.microsoft.com/office/drawing/2014/main" id="{DF11CFEF-40A9-1DFE-3EA7-9A4654038C83}"/>
              </a:ext>
            </a:extLst>
          </p:cNvPr>
          <p:cNvSpPr txBox="1"/>
          <p:nvPr/>
        </p:nvSpPr>
        <p:spPr>
          <a:xfrm>
            <a:off x="493396" y="843876"/>
            <a:ext cx="10515600" cy="5903539"/>
          </a:xfrm>
          <a:prstGeom prst="rect">
            <a:avLst/>
          </a:prstGeom>
          <a:noFill/>
        </p:spPr>
        <p:txBody>
          <a:bodyPr wrap="square" rtlCol="0">
            <a:spAutoFit/>
          </a:bodyPr>
          <a:lstStyle/>
          <a:p>
            <a:pPr algn="just" fontAlgn="base">
              <a:spcAft>
                <a:spcPts val="1200"/>
              </a:spcAft>
              <a:buNone/>
            </a:pPr>
            <a:r>
              <a:rPr lang="en-IN" sz="1600" dirty="0">
                <a:latin typeface="Times New Roman" panose="02020603050405020304" pitchFamily="18" charset="0"/>
                <a:cs typeface="Times New Roman" panose="02020603050405020304" pitchFamily="18" charset="0"/>
              </a:rPr>
              <a:t>Gonzalez, Nahuel, et al. "</a:t>
            </a:r>
            <a:r>
              <a:rPr lang="en-IN" sz="1600" b="1" dirty="0">
                <a:latin typeface="Times New Roman" panose="02020603050405020304" pitchFamily="18" charset="0"/>
                <a:cs typeface="Times New Roman" panose="02020603050405020304" pitchFamily="18" charset="0"/>
              </a:rPr>
              <a:t>Type2branch: keystroke biometrics based on a dual-branch architecture with attention mechanisms and set2set loss." </a:t>
            </a:r>
            <a:r>
              <a:rPr lang="en-IN" sz="1600" i="1" dirty="0">
                <a:latin typeface="Times New Roman" panose="02020603050405020304" pitchFamily="18" charset="0"/>
                <a:cs typeface="Times New Roman" panose="02020603050405020304" pitchFamily="18" charset="0"/>
              </a:rPr>
              <a:t>IEEE Transactions on Information Forensics and Security</a:t>
            </a:r>
            <a:r>
              <a:rPr lang="en-IN" sz="1600" dirty="0">
                <a:latin typeface="Times New Roman" panose="02020603050405020304" pitchFamily="18" charset="0"/>
                <a:cs typeface="Times New Roman" panose="02020603050405020304" pitchFamily="18" charset="0"/>
              </a:rPr>
              <a:t> (2025).</a:t>
            </a:r>
          </a:p>
          <a:p>
            <a:r>
              <a:rPr lang="en-IN" sz="1600" b="1" dirty="0">
                <a:latin typeface="Times New Roman" panose="02020603050405020304" pitchFamily="18" charset="0"/>
                <a:cs typeface="Times New Roman" panose="02020603050405020304" pitchFamily="18" charset="0"/>
              </a:rPr>
              <a:t>Journal Information</a:t>
            </a:r>
          </a:p>
          <a:p>
            <a:r>
              <a:rPr lang="en-IN" sz="1600" dirty="0">
                <a:latin typeface="Times New Roman" panose="02020603050405020304" pitchFamily="18" charset="0"/>
                <a:cs typeface="Times New Roman" panose="02020603050405020304" pitchFamily="18" charset="0"/>
              </a:rPr>
              <a:t>Journal: IEEE Transactions on Information Forensics and Security (IEEE TIFS)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Publisher: IEEE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Indexing: SCI Indexed / IEEE Transactions Journal</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Impact Factor: 8 (Clarivate JCR)</a:t>
            </a:r>
          </a:p>
          <a:p>
            <a:r>
              <a:rPr lang="en-IN" sz="1600" dirty="0">
                <a:latin typeface="Times New Roman" panose="02020603050405020304" pitchFamily="18" charset="0"/>
                <a:cs typeface="Times New Roman" panose="02020603050405020304" pitchFamily="18" charset="0"/>
              </a:rPr>
              <a:t>DOI : </a:t>
            </a:r>
            <a:r>
              <a:rPr lang="en-IN" sz="1600" dirty="0">
                <a:hlinkClick r:id="rId2"/>
              </a:rPr>
              <a:t>10.1109/TIFS.2025.3574992</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Paper Contribution</a:t>
            </a:r>
          </a:p>
          <a:p>
            <a:r>
              <a:rPr lang="en-US" sz="1600" dirty="0">
                <a:latin typeface="Times New Roman" panose="02020603050405020304" pitchFamily="18" charset="0"/>
                <a:cs typeface="Times New Roman" panose="02020603050405020304" pitchFamily="18" charset="0"/>
              </a:rPr>
              <a:t>• Proposes a dual-branch deep learning architecture for keystroke biometrics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Uses attention mechanisms to improve feature learning from typing patterns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Achieves enhanced authentication accuracy using Set2Set loss strategy</a:t>
            </a:r>
          </a:p>
          <a:p>
            <a:r>
              <a:rPr lang="en-US" sz="1600" b="1" dirty="0">
                <a:latin typeface="Times New Roman" panose="02020603050405020304" pitchFamily="18" charset="0"/>
                <a:cs typeface="Times New Roman" panose="02020603050405020304" pitchFamily="18" charset="0"/>
              </a:rPr>
              <a:t>Identified Research Gap</a:t>
            </a:r>
          </a:p>
          <a:p>
            <a:r>
              <a:rPr lang="en-US" sz="1600" dirty="0">
                <a:latin typeface="Times New Roman" panose="02020603050405020304" pitchFamily="18" charset="0"/>
                <a:cs typeface="Times New Roman" panose="02020603050405020304" pitchFamily="18" charset="0"/>
              </a:rPr>
              <a:t>• Focuses primarily on user authentication only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Binary classification (genuine vs impostor)</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Does not address insider threat behavioral misuse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No consideration of AI-assisted or LLM-supported typing behavior</a:t>
            </a:r>
          </a:p>
          <a:p>
            <a:r>
              <a:rPr lang="en-IN" sz="1600" b="1" dirty="0">
                <a:latin typeface="Times New Roman" panose="02020603050405020304" pitchFamily="18" charset="0"/>
                <a:cs typeface="Times New Roman" panose="02020603050405020304" pitchFamily="18" charset="0"/>
              </a:rPr>
              <a:t>Proposed Extension</a:t>
            </a:r>
          </a:p>
          <a:p>
            <a:r>
              <a:rPr lang="en-IN" sz="1600" dirty="0">
                <a:latin typeface="Times New Roman" panose="02020603050405020304" pitchFamily="18" charset="0"/>
                <a:cs typeface="Times New Roman" panose="02020603050405020304" pitchFamily="18" charset="0"/>
              </a:rPr>
              <a:t>• Multi-class behavioural security framework</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Insider threat detection using behavioural deviation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LLM-assisted typing misuse detection using keystroke dynamics</a:t>
            </a:r>
          </a:p>
          <a:p>
            <a:endParaRPr lang="en-US" sz="1600" dirty="0">
              <a:latin typeface="Times New Roman" panose="02020603050405020304" pitchFamily="18" charset="0"/>
              <a:cs typeface="Times New Roman" panose="02020603050405020304" pitchFamily="18" charset="0"/>
            </a:endParaRPr>
          </a:p>
          <a:p>
            <a:pPr algn="just" fontAlgn="base">
              <a:lnSpc>
                <a:spcPts val="1950"/>
              </a:lnSpc>
              <a:spcAft>
                <a:spcPts val="1200"/>
              </a:spcAft>
              <a:buNone/>
            </a:pPr>
            <a:endParaRPr lang="en-IN" sz="1600" b="0" i="0" dirty="0">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C43A907-F8B8-B9A7-FF47-6AD32F0D6789}"/>
              </a:ext>
            </a:extLst>
          </p:cNvPr>
          <p:cNvPicPr>
            <a:picLocks noChangeAspect="1"/>
          </p:cNvPicPr>
          <p:nvPr/>
        </p:nvPicPr>
        <p:blipFill>
          <a:blip r:embed="rId3"/>
          <a:stretch>
            <a:fillRect/>
          </a:stretch>
        </p:blipFill>
        <p:spPr>
          <a:xfrm>
            <a:off x="8763000" y="1264105"/>
            <a:ext cx="3008934" cy="5386623"/>
          </a:xfrm>
          <a:prstGeom prst="rect">
            <a:avLst/>
          </a:prstGeom>
        </p:spPr>
      </p:pic>
      <p:sp>
        <p:nvSpPr>
          <p:cNvPr id="8" name="Slide Number Placeholder 7">
            <a:extLst>
              <a:ext uri="{FF2B5EF4-FFF2-40B4-BE49-F238E27FC236}">
                <a16:creationId xmlns:a16="http://schemas.microsoft.com/office/drawing/2014/main" id="{5915ADE3-FBE6-DDC5-D91A-0442CFCAABFE}"/>
              </a:ext>
            </a:extLst>
          </p:cNvPr>
          <p:cNvSpPr>
            <a:spLocks noGrp="1"/>
          </p:cNvSpPr>
          <p:nvPr>
            <p:ph type="sldNum" sz="quarter" idx="7"/>
          </p:nvPr>
        </p:nvSpPr>
        <p:spPr/>
        <p:txBody>
          <a:bodyPr/>
          <a:lstStyle/>
          <a:p>
            <a:pPr marL="12700">
              <a:lnSpc>
                <a:spcPts val="1650"/>
              </a:lnSpc>
            </a:pPr>
            <a:fld id="{81D60167-4931-47E6-BA6A-407CBD079E47}" type="slidenum">
              <a:rPr lang="en-IN" spc="-25" smtClean="0"/>
              <a:t>3</a:t>
            </a:fld>
            <a:endParaRPr lang="en-IN" spc="-25" dirty="0"/>
          </a:p>
        </p:txBody>
      </p:sp>
    </p:spTree>
    <p:extLst>
      <p:ext uri="{BB962C8B-B14F-4D97-AF65-F5344CB8AC3E}">
        <p14:creationId xmlns:p14="http://schemas.microsoft.com/office/powerpoint/2010/main" val="2425799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BCD50-0D5D-99CE-D04C-3C4CA426553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F2490FE-1E38-2F63-65E0-31CB39E9023D}"/>
              </a:ext>
            </a:extLst>
          </p:cNvPr>
          <p:cNvSpPr txBox="1">
            <a:spLocks noGrp="1"/>
          </p:cNvSpPr>
          <p:nvPr>
            <p:ph type="title"/>
          </p:nvPr>
        </p:nvSpPr>
        <p:spPr>
          <a:xfrm>
            <a:off x="273811" y="115011"/>
            <a:ext cx="10224897" cy="1128436"/>
          </a:xfrm>
          <a:prstGeom prst="rect">
            <a:avLst/>
          </a:prstGeom>
        </p:spPr>
        <p:txBody>
          <a:bodyPr vert="horz" wrap="square" lIns="0" tIns="507923" rIns="0" bIns="0" rtlCol="0">
            <a:spAutoFit/>
          </a:bodyPr>
          <a:lstStyle/>
          <a:p>
            <a:pPr marL="121920">
              <a:lnSpc>
                <a:spcPct val="100000"/>
              </a:lnSpc>
              <a:spcBef>
                <a:spcPts val="95"/>
              </a:spcBef>
            </a:pPr>
            <a:r>
              <a:rPr lang="en-IN" spc="254" dirty="0">
                <a:solidFill>
                  <a:schemeClr val="tx1"/>
                </a:solidFill>
                <a:latin typeface="Times New Roman" panose="02020603050405020304" pitchFamily="18" charset="0"/>
                <a:cs typeface="Times New Roman" panose="02020603050405020304" pitchFamily="18" charset="0"/>
              </a:rPr>
              <a:t>Objectives</a:t>
            </a:r>
            <a:endParaRPr spc="305" dirty="0">
              <a:solidFill>
                <a:schemeClr val="tx1"/>
              </a:solidFill>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08889DC7-0833-A14B-E225-986E26EE8D2A}"/>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3" name="object 13">
            <a:extLst>
              <a:ext uri="{FF2B5EF4-FFF2-40B4-BE49-F238E27FC236}">
                <a16:creationId xmlns:a16="http://schemas.microsoft.com/office/drawing/2014/main" id="{55A16A53-1D0A-964B-33E5-FCF1B483892E}"/>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7B599589-C375-4D16-8B10-FCE3D8227860}" type="datetime1">
              <a:rPr lang="en-US" spc="-50" smtClean="0"/>
              <a:t>4/28/2026</a:t>
            </a:fld>
            <a:endParaRPr spc="-50" dirty="0"/>
          </a:p>
        </p:txBody>
      </p:sp>
      <p:sp>
        <p:nvSpPr>
          <p:cNvPr id="14" name="TextBox 13">
            <a:extLst>
              <a:ext uri="{FF2B5EF4-FFF2-40B4-BE49-F238E27FC236}">
                <a16:creationId xmlns:a16="http://schemas.microsoft.com/office/drawing/2014/main" id="{557AAA19-9041-3726-32C4-D8E9B43B2124}"/>
              </a:ext>
            </a:extLst>
          </p:cNvPr>
          <p:cNvSpPr txBox="1"/>
          <p:nvPr/>
        </p:nvSpPr>
        <p:spPr>
          <a:xfrm>
            <a:off x="380737" y="1506907"/>
            <a:ext cx="11353800" cy="4439933"/>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Design</a:t>
            </a:r>
            <a:r>
              <a:rPr lang="en-IN" dirty="0">
                <a:latin typeface="Times New Roman" panose="02020603050405020304" pitchFamily="18" charset="0"/>
                <a:cs typeface="Times New Roman" panose="02020603050405020304" pitchFamily="18" charset="0"/>
              </a:rPr>
              <a:t> a keystroke-based behavioural feature extraction pipeline using temporal typing characteristics such as dwell time, flight time, and pause patterns.</a:t>
            </a:r>
          </a:p>
          <a:p>
            <a:pPr marL="285750" indent="-285750" algn="just">
              <a:lnSpc>
                <a:spcPct val="2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Develop</a:t>
            </a:r>
            <a:r>
              <a:rPr lang="en-IN" dirty="0">
                <a:latin typeface="Times New Roman" panose="02020603050405020304" pitchFamily="18" charset="0"/>
                <a:cs typeface="Times New Roman" panose="02020603050405020304" pitchFamily="18" charset="0"/>
              </a:rPr>
              <a:t> a multi-class machine learning model to classify behavioural states into normal user behaviour, insider/impostor behaviour, and LLM-assisted typing behaviour.</a:t>
            </a:r>
          </a:p>
          <a:p>
            <a:pPr marL="285750" indent="-285750" algn="just">
              <a:lnSpc>
                <a:spcPct val="2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Implement</a:t>
            </a:r>
            <a:r>
              <a:rPr lang="en-IN" dirty="0">
                <a:latin typeface="Times New Roman" panose="02020603050405020304" pitchFamily="18" charset="0"/>
                <a:cs typeface="Times New Roman" panose="02020603050405020304" pitchFamily="18" charset="0"/>
              </a:rPr>
              <a:t> behavioural anomaly detection mechanisms to identify deviations from established typing profiles.</a:t>
            </a:r>
          </a:p>
          <a:p>
            <a:pPr marL="285750" indent="-285750" algn="just">
              <a:lnSpc>
                <a:spcPct val="2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Analyse</a:t>
            </a:r>
            <a:r>
              <a:rPr lang="en-IN" dirty="0">
                <a:latin typeface="Times New Roman" panose="02020603050405020304" pitchFamily="18" charset="0"/>
                <a:cs typeface="Times New Roman" panose="02020603050405020304" pitchFamily="18" charset="0"/>
              </a:rPr>
              <a:t> typing rhythm and burst patterns to detect potential AI-assisted or abnormal behavioural activities.</a:t>
            </a:r>
          </a:p>
          <a:p>
            <a:pPr marL="285750" indent="-285750" algn="just">
              <a:lnSpc>
                <a:spcPct val="2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Evaluate</a:t>
            </a:r>
            <a:r>
              <a:rPr lang="en-IN" dirty="0">
                <a:latin typeface="Times New Roman" panose="02020603050405020304" pitchFamily="18" charset="0"/>
                <a:cs typeface="Times New Roman" panose="02020603050405020304" pitchFamily="18" charset="0"/>
              </a:rPr>
              <a:t> system performance using classification metrics including accuracy, precision, recall, F1-score, and confusion matrix analysis.</a:t>
            </a:r>
          </a:p>
        </p:txBody>
      </p:sp>
      <p:sp>
        <p:nvSpPr>
          <p:cNvPr id="2" name="Slide Number Placeholder 1">
            <a:extLst>
              <a:ext uri="{FF2B5EF4-FFF2-40B4-BE49-F238E27FC236}">
                <a16:creationId xmlns:a16="http://schemas.microsoft.com/office/drawing/2014/main" id="{E1C8C8B1-1578-2D9F-14C2-5375A8C1566E}"/>
              </a:ext>
            </a:extLst>
          </p:cNvPr>
          <p:cNvSpPr>
            <a:spLocks noGrp="1"/>
          </p:cNvSpPr>
          <p:nvPr>
            <p:ph type="sldNum" sz="quarter" idx="7"/>
          </p:nvPr>
        </p:nvSpPr>
        <p:spPr/>
        <p:txBody>
          <a:bodyPr/>
          <a:lstStyle/>
          <a:p>
            <a:pPr marL="12700">
              <a:lnSpc>
                <a:spcPts val="1650"/>
              </a:lnSpc>
            </a:pPr>
            <a:fld id="{81D60167-4931-47E6-BA6A-407CBD079E47}" type="slidenum">
              <a:rPr lang="en-IN" spc="-25" smtClean="0"/>
              <a:t>4</a:t>
            </a:fld>
            <a:endParaRPr lang="en-IN" spc="-25" dirty="0"/>
          </a:p>
        </p:txBody>
      </p:sp>
    </p:spTree>
    <p:extLst>
      <p:ext uri="{BB962C8B-B14F-4D97-AF65-F5344CB8AC3E}">
        <p14:creationId xmlns:p14="http://schemas.microsoft.com/office/powerpoint/2010/main" val="4288450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85653" y="-268431"/>
            <a:ext cx="7996347" cy="1128436"/>
          </a:xfrm>
          <a:prstGeom prst="rect">
            <a:avLst/>
          </a:prstGeom>
        </p:spPr>
        <p:txBody>
          <a:bodyPr vert="horz" wrap="square" lIns="0" tIns="507923" rIns="0" bIns="0" rtlCol="0">
            <a:spAutoFit/>
          </a:bodyPr>
          <a:lstStyle/>
          <a:p>
            <a:pPr marL="121920">
              <a:lnSpc>
                <a:spcPct val="100000"/>
              </a:lnSpc>
              <a:spcBef>
                <a:spcPts val="95"/>
              </a:spcBef>
            </a:pPr>
            <a:r>
              <a:rPr lang="en-IN" dirty="0">
                <a:solidFill>
                  <a:schemeClr val="tx1"/>
                </a:solidFill>
                <a:latin typeface="Times New Roman" panose="02020603050405020304" pitchFamily="18" charset="0"/>
                <a:cs typeface="Times New Roman" panose="02020603050405020304" pitchFamily="18" charset="0"/>
              </a:rPr>
              <a:t>Problem Context &amp; Background</a:t>
            </a:r>
            <a:endParaRPr spc="250" dirty="0">
              <a:solidFill>
                <a:schemeClr val="tx1"/>
              </a:solidFill>
              <a:latin typeface="Times New Roman" panose="02020603050405020304" pitchFamily="18" charset="0"/>
              <a:cs typeface="Times New Roman" panose="02020603050405020304" pitchFamily="18" charset="0"/>
            </a:endParaRPr>
          </a:p>
        </p:txBody>
      </p:sp>
      <p:sp>
        <p:nvSpPr>
          <p:cNvPr id="4" name="object 4"/>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9" name="object 9"/>
          <p:cNvSpPr txBox="1">
            <a:spLocks noGrp="1"/>
          </p:cNvSpPr>
          <p:nvPr>
            <p:ph type="dt" sz="half" idx="6"/>
          </p:nvPr>
        </p:nvSpPr>
        <p:spPr>
          <a:xfrm>
            <a:off x="891641" y="6511973"/>
            <a:ext cx="1494155" cy="230832"/>
          </a:xfrm>
          <a:prstGeom prst="rect">
            <a:avLst/>
          </a:prstGeom>
        </p:spPr>
        <p:txBody>
          <a:bodyPr vert="horz" wrap="square" lIns="0" tIns="0" rIns="0" bIns="0" rtlCol="0">
            <a:spAutoFit/>
          </a:bodyPr>
          <a:lstStyle/>
          <a:p>
            <a:pPr marL="12700">
              <a:lnSpc>
                <a:spcPts val="1839"/>
              </a:lnSpc>
            </a:pPr>
            <a:fld id="{E35C4AED-E531-4D0C-8064-7860157EE4B6}" type="datetime1">
              <a:rPr lang="en-US" spc="-50" smtClean="0"/>
              <a:t>4/28/2026</a:t>
            </a:fld>
            <a:endParaRPr spc="-50" dirty="0"/>
          </a:p>
        </p:txBody>
      </p:sp>
      <p:sp>
        <p:nvSpPr>
          <p:cNvPr id="10" name="TextBox 9">
            <a:extLst>
              <a:ext uri="{FF2B5EF4-FFF2-40B4-BE49-F238E27FC236}">
                <a16:creationId xmlns:a16="http://schemas.microsoft.com/office/drawing/2014/main" id="{CB4EE0B4-7413-84A8-8D07-B41D5251CEC8}"/>
              </a:ext>
            </a:extLst>
          </p:cNvPr>
          <p:cNvSpPr txBox="1"/>
          <p:nvPr/>
        </p:nvSpPr>
        <p:spPr>
          <a:xfrm>
            <a:off x="549296" y="779410"/>
            <a:ext cx="10853929" cy="892552"/>
          </a:xfrm>
          <a:prstGeom prst="rect">
            <a:avLst/>
          </a:prstGeom>
          <a:noFill/>
        </p:spPr>
        <p:txBody>
          <a:bodyPr wrap="square" rtlCol="0">
            <a:spAutoFit/>
          </a:bodyPr>
          <a:lstStyle/>
          <a:p>
            <a:pPr algn="l"/>
            <a:r>
              <a:rPr lang="en-US" b="1" dirty="0">
                <a:latin typeface="Times New Roman" panose="02020603050405020304" pitchFamily="18" charset="0"/>
                <a:cs typeface="Times New Roman" panose="02020603050405020304" pitchFamily="18" charset="0"/>
              </a:rPr>
              <a:t>Application Domain</a:t>
            </a:r>
          </a:p>
          <a:p>
            <a:pPr algn="l"/>
            <a:r>
              <a:rPr lang="en-US" dirty="0">
                <a:latin typeface="Times New Roman" panose="02020603050405020304" pitchFamily="18" charset="0"/>
                <a:cs typeface="Times New Roman" panose="02020603050405020304" pitchFamily="18" charset="0"/>
              </a:rPr>
              <a:t>Cybersecurity — Insider Threat Detection using Behavioral Biometrics and Machine Learning</a:t>
            </a:r>
          </a:p>
          <a:p>
            <a:pPr algn="l"/>
            <a:endParaRPr lang="en-US" sz="16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4484DA7E-A58D-8C41-B6B2-355B55A8108C}"/>
              </a:ext>
            </a:extLst>
          </p:cNvPr>
          <p:cNvSpPr>
            <a:spLocks noGrp="1"/>
          </p:cNvSpPr>
          <p:nvPr>
            <p:ph type="sldNum" sz="quarter" idx="7"/>
          </p:nvPr>
        </p:nvSpPr>
        <p:spPr/>
        <p:txBody>
          <a:bodyPr/>
          <a:lstStyle/>
          <a:p>
            <a:pPr marL="12700">
              <a:lnSpc>
                <a:spcPts val="1650"/>
              </a:lnSpc>
            </a:pPr>
            <a:fld id="{81D60167-4931-47E6-BA6A-407CBD079E47}" type="slidenum">
              <a:rPr lang="en-IN" spc="-25" smtClean="0"/>
              <a:t>5</a:t>
            </a:fld>
            <a:endParaRPr lang="en-IN" spc="-25" dirty="0"/>
          </a:p>
        </p:txBody>
      </p:sp>
      <p:sp>
        <p:nvSpPr>
          <p:cNvPr id="5" name="TextBox 4">
            <a:extLst>
              <a:ext uri="{FF2B5EF4-FFF2-40B4-BE49-F238E27FC236}">
                <a16:creationId xmlns:a16="http://schemas.microsoft.com/office/drawing/2014/main" id="{9CBC9A1B-88A1-2909-1B25-D5A468D0171E}"/>
              </a:ext>
            </a:extLst>
          </p:cNvPr>
          <p:cNvSpPr txBox="1"/>
          <p:nvPr/>
        </p:nvSpPr>
        <p:spPr>
          <a:xfrm>
            <a:off x="556670" y="1560588"/>
            <a:ext cx="11158729" cy="2308324"/>
          </a:xfrm>
          <a:prstGeom prst="rect">
            <a:avLst/>
          </a:prstGeom>
          <a:noFill/>
        </p:spPr>
        <p:txBody>
          <a:bodyPr wrap="square" rtlCol="0">
            <a:spAutoFit/>
          </a:bodyPr>
          <a:lstStyle/>
          <a:p>
            <a:pPr algn="l"/>
            <a:r>
              <a:rPr lang="en-US" sz="1800" b="1" dirty="0">
                <a:latin typeface="Times New Roman" panose="02020603050405020304" pitchFamily="18" charset="0"/>
                <a:cs typeface="Times New Roman" panose="02020603050405020304" pitchFamily="18" charset="0"/>
              </a:rPr>
              <a:t>Existing System Overview</a:t>
            </a:r>
          </a:p>
          <a:p>
            <a:pPr algn="l"/>
            <a:r>
              <a:rPr lang="en-US" sz="1800" dirty="0">
                <a:latin typeface="Times New Roman" panose="02020603050405020304" pitchFamily="18" charset="0"/>
                <a:cs typeface="Times New Roman" panose="02020603050405020304" pitchFamily="18" charset="0"/>
              </a:rPr>
              <a:t>Traditional cybersecurity systems rely on login authentication, access control monitoring, and rule-based anomaly detection to secure systems.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Behavioral authentication using keystroke dynamics has been proposed to continuously verify user identity based on typing patterns.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Existing models primarily focus on binary classification to distinguish genuine users from impostors.</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algn="l"/>
            <a:endParaRPr lang="en-IN" dirty="0"/>
          </a:p>
        </p:txBody>
      </p:sp>
      <p:sp>
        <p:nvSpPr>
          <p:cNvPr id="6" name="TextBox 5">
            <a:extLst>
              <a:ext uri="{FF2B5EF4-FFF2-40B4-BE49-F238E27FC236}">
                <a16:creationId xmlns:a16="http://schemas.microsoft.com/office/drawing/2014/main" id="{077B8F12-7752-0533-FEFB-602E2EB3B5AB}"/>
              </a:ext>
            </a:extLst>
          </p:cNvPr>
          <p:cNvSpPr txBox="1"/>
          <p:nvPr/>
        </p:nvSpPr>
        <p:spPr>
          <a:xfrm>
            <a:off x="556670" y="3384364"/>
            <a:ext cx="11467297" cy="1754326"/>
          </a:xfrm>
          <a:prstGeom prst="rect">
            <a:avLst/>
          </a:prstGeom>
          <a:noFill/>
        </p:spPr>
        <p:txBody>
          <a:bodyPr wrap="square" rtlCol="0">
            <a:spAutoFit/>
          </a:bodyPr>
          <a:lstStyle/>
          <a:p>
            <a:pPr algn="l"/>
            <a:r>
              <a:rPr lang="en-US" sz="1800" b="1" dirty="0">
                <a:latin typeface="Times New Roman" panose="02020603050405020304" pitchFamily="18" charset="0"/>
                <a:cs typeface="Times New Roman" panose="02020603050405020304" pitchFamily="18" charset="0"/>
              </a:rPr>
              <a:t>Identified Limitation</a:t>
            </a:r>
          </a:p>
          <a:p>
            <a:pPr algn="l"/>
            <a:r>
              <a:rPr lang="en-US" sz="1800" dirty="0">
                <a:latin typeface="Times New Roman" panose="02020603050405020304" pitchFamily="18" charset="0"/>
                <a:cs typeface="Times New Roman" panose="02020603050405020304" pitchFamily="18" charset="0"/>
              </a:rPr>
              <a:t>Conventional systems cannot detect subtle behavioral deviations from authorized users performing insider misuse.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Binary authentication approaches fail to capture complex behavioral states.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Current approaches do not address emerging misuse such as AI-assisted or LLM-supported typing behaviors.</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algn="l"/>
            <a:endParaRPr lang="en-IN" dirty="0"/>
          </a:p>
        </p:txBody>
      </p:sp>
      <p:sp>
        <p:nvSpPr>
          <p:cNvPr id="12" name="TextBox 11">
            <a:extLst>
              <a:ext uri="{FF2B5EF4-FFF2-40B4-BE49-F238E27FC236}">
                <a16:creationId xmlns:a16="http://schemas.microsoft.com/office/drawing/2014/main" id="{0F6FFBFF-5252-0440-4882-FFE892F1E9D2}"/>
              </a:ext>
            </a:extLst>
          </p:cNvPr>
          <p:cNvSpPr txBox="1"/>
          <p:nvPr/>
        </p:nvSpPr>
        <p:spPr>
          <a:xfrm>
            <a:off x="611631" y="4683805"/>
            <a:ext cx="11467298" cy="1477328"/>
          </a:xfrm>
          <a:prstGeom prst="rect">
            <a:avLst/>
          </a:prstGeom>
          <a:noFill/>
        </p:spPr>
        <p:txBody>
          <a:bodyPr wrap="square">
            <a:spAutoFit/>
          </a:bodyPr>
          <a:lstStyle/>
          <a:p>
            <a:pPr algn="l"/>
            <a:r>
              <a:rPr lang="en-US" sz="1800" b="1" dirty="0">
                <a:latin typeface="Times New Roman" panose="02020603050405020304" pitchFamily="18" charset="0"/>
                <a:cs typeface="Times New Roman" panose="02020603050405020304" pitchFamily="18" charset="0"/>
              </a:rPr>
              <a:t>Need for Proposed Work</a:t>
            </a:r>
          </a:p>
          <a:p>
            <a:pPr algn="l"/>
            <a:r>
              <a:rPr lang="en-US" sz="1800" dirty="0">
                <a:latin typeface="Times New Roman" panose="02020603050405020304" pitchFamily="18" charset="0"/>
                <a:cs typeface="Times New Roman" panose="02020603050405020304" pitchFamily="18" charset="0"/>
              </a:rPr>
              <a:t>Insider threats are evolving with AI-assisted workflows and remote environments.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Continuous behavioral monitoring is required instead of static identity verification.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 multi-class behavioral detection framework is needed to distinguish normal behavior, insider threats, and AI-assisted typing misuse.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0330C-8310-10CA-E0B7-94B531EF22E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BBC0F3E-7D84-348E-DC73-B687889109A0}"/>
              </a:ext>
            </a:extLst>
          </p:cNvPr>
          <p:cNvSpPr txBox="1">
            <a:spLocks noGrp="1"/>
          </p:cNvSpPr>
          <p:nvPr>
            <p:ph type="title"/>
          </p:nvPr>
        </p:nvSpPr>
        <p:spPr>
          <a:xfrm>
            <a:off x="273811" y="115011"/>
            <a:ext cx="4983989" cy="1128436"/>
          </a:xfrm>
          <a:prstGeom prst="rect">
            <a:avLst/>
          </a:prstGeom>
        </p:spPr>
        <p:txBody>
          <a:bodyPr vert="horz" wrap="square" lIns="0" tIns="507923" rIns="0" bIns="0" rtlCol="0">
            <a:spAutoFit/>
          </a:bodyPr>
          <a:lstStyle/>
          <a:p>
            <a:pPr marL="121920">
              <a:lnSpc>
                <a:spcPct val="100000"/>
              </a:lnSpc>
              <a:spcBef>
                <a:spcPts val="95"/>
              </a:spcBef>
            </a:pPr>
            <a:r>
              <a:rPr lang="en-IN" spc="254" dirty="0">
                <a:solidFill>
                  <a:schemeClr val="tx1"/>
                </a:solidFill>
                <a:latin typeface="Times New Roman" panose="02020603050405020304" pitchFamily="18" charset="0"/>
                <a:cs typeface="Times New Roman" panose="02020603050405020304" pitchFamily="18" charset="0"/>
              </a:rPr>
              <a:t>Literature Survey</a:t>
            </a:r>
            <a:endParaRPr spc="305" dirty="0">
              <a:solidFill>
                <a:schemeClr val="tx1"/>
              </a:solidFill>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D4EB5A6D-64F7-2E45-D8D7-656DCC73E660}"/>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3" name="object 13">
            <a:extLst>
              <a:ext uri="{FF2B5EF4-FFF2-40B4-BE49-F238E27FC236}">
                <a16:creationId xmlns:a16="http://schemas.microsoft.com/office/drawing/2014/main" id="{EA798AC2-D16B-6208-C9A7-D27A1DF98944}"/>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98D3B08E-3934-4FAA-A1AD-B1180457C5CE}" type="datetime1">
              <a:rPr lang="en-US" spc="-50" smtClean="0"/>
              <a:t>4/28/2026</a:t>
            </a:fld>
            <a:endParaRPr spc="-50" dirty="0"/>
          </a:p>
        </p:txBody>
      </p:sp>
      <p:sp>
        <p:nvSpPr>
          <p:cNvPr id="2" name="Slide Number Placeholder 1">
            <a:extLst>
              <a:ext uri="{FF2B5EF4-FFF2-40B4-BE49-F238E27FC236}">
                <a16:creationId xmlns:a16="http://schemas.microsoft.com/office/drawing/2014/main" id="{A7EEFEE8-AAC7-CCAE-2899-5D02473DDBBE}"/>
              </a:ext>
            </a:extLst>
          </p:cNvPr>
          <p:cNvSpPr>
            <a:spLocks noGrp="1"/>
          </p:cNvSpPr>
          <p:nvPr>
            <p:ph type="sldNum" sz="quarter" idx="7"/>
          </p:nvPr>
        </p:nvSpPr>
        <p:spPr/>
        <p:txBody>
          <a:bodyPr/>
          <a:lstStyle/>
          <a:p>
            <a:pPr marL="12700">
              <a:lnSpc>
                <a:spcPts val="1650"/>
              </a:lnSpc>
            </a:pPr>
            <a:fld id="{81D60167-4931-47E6-BA6A-407CBD079E47}" type="slidenum">
              <a:rPr lang="en-IN" spc="-25" smtClean="0"/>
              <a:t>6</a:t>
            </a:fld>
            <a:endParaRPr lang="en-IN" spc="-25" dirty="0"/>
          </a:p>
        </p:txBody>
      </p:sp>
      <p:graphicFrame>
        <p:nvGraphicFramePr>
          <p:cNvPr id="12" name="Table 11">
            <a:extLst>
              <a:ext uri="{FF2B5EF4-FFF2-40B4-BE49-F238E27FC236}">
                <a16:creationId xmlns:a16="http://schemas.microsoft.com/office/drawing/2014/main" id="{C0515A91-56DA-E82B-9DE5-727AB8A5A095}"/>
              </a:ext>
            </a:extLst>
          </p:cNvPr>
          <p:cNvGraphicFramePr>
            <a:graphicFrameLocks noGrp="1"/>
          </p:cNvGraphicFramePr>
          <p:nvPr>
            <p:extLst>
              <p:ext uri="{D42A27DB-BD31-4B8C-83A1-F6EECF244321}">
                <p14:modId xmlns:p14="http://schemas.microsoft.com/office/powerpoint/2010/main" val="1188469722"/>
              </p:ext>
            </p:extLst>
          </p:nvPr>
        </p:nvGraphicFramePr>
        <p:xfrm>
          <a:off x="499871" y="1164741"/>
          <a:ext cx="11192260" cy="5619545"/>
        </p:xfrm>
        <a:graphic>
          <a:graphicData uri="http://schemas.openxmlformats.org/drawingml/2006/table">
            <a:tbl>
              <a:tblPr>
                <a:tableStyleId>{3C2FFA5D-87B4-456A-9821-1D502468CF0F}</a:tableStyleId>
              </a:tblPr>
              <a:tblGrid>
                <a:gridCol w="2238452">
                  <a:extLst>
                    <a:ext uri="{9D8B030D-6E8A-4147-A177-3AD203B41FA5}">
                      <a16:colId xmlns:a16="http://schemas.microsoft.com/office/drawing/2014/main" val="3972406513"/>
                    </a:ext>
                  </a:extLst>
                </a:gridCol>
                <a:gridCol w="2238452">
                  <a:extLst>
                    <a:ext uri="{9D8B030D-6E8A-4147-A177-3AD203B41FA5}">
                      <a16:colId xmlns:a16="http://schemas.microsoft.com/office/drawing/2014/main" val="845513842"/>
                    </a:ext>
                  </a:extLst>
                </a:gridCol>
                <a:gridCol w="2238452">
                  <a:extLst>
                    <a:ext uri="{9D8B030D-6E8A-4147-A177-3AD203B41FA5}">
                      <a16:colId xmlns:a16="http://schemas.microsoft.com/office/drawing/2014/main" val="408948593"/>
                    </a:ext>
                  </a:extLst>
                </a:gridCol>
                <a:gridCol w="2238452">
                  <a:extLst>
                    <a:ext uri="{9D8B030D-6E8A-4147-A177-3AD203B41FA5}">
                      <a16:colId xmlns:a16="http://schemas.microsoft.com/office/drawing/2014/main" val="3443691809"/>
                    </a:ext>
                  </a:extLst>
                </a:gridCol>
                <a:gridCol w="2238452">
                  <a:extLst>
                    <a:ext uri="{9D8B030D-6E8A-4147-A177-3AD203B41FA5}">
                      <a16:colId xmlns:a16="http://schemas.microsoft.com/office/drawing/2014/main" val="1588382037"/>
                    </a:ext>
                  </a:extLst>
                </a:gridCol>
              </a:tblGrid>
              <a:tr h="231118">
                <a:tc>
                  <a:txBody>
                    <a:bodyPr/>
                    <a:lstStyle/>
                    <a:p>
                      <a:pPr>
                        <a:buNone/>
                      </a:pPr>
                      <a:r>
                        <a:rPr lang="en-IN" sz="1500" b="1" dirty="0">
                          <a:latin typeface="Times New Roman" panose="02020603050405020304" pitchFamily="18" charset="0"/>
                          <a:cs typeface="Times New Roman" panose="02020603050405020304" pitchFamily="18" charset="0"/>
                        </a:rPr>
                        <a:t>Author &amp; Year</a:t>
                      </a:r>
                      <a:endParaRPr lang="en-IN"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IN" sz="1500" b="1">
                          <a:latin typeface="Times New Roman" panose="02020603050405020304" pitchFamily="18" charset="0"/>
                          <a:cs typeface="Times New Roman" panose="02020603050405020304" pitchFamily="18" charset="0"/>
                        </a:rPr>
                        <a:t>Paper Title</a:t>
                      </a:r>
                      <a:endParaRPr lang="en-IN" sz="150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IN" sz="1500" b="1">
                          <a:latin typeface="Times New Roman" panose="02020603050405020304" pitchFamily="18" charset="0"/>
                          <a:cs typeface="Times New Roman" panose="02020603050405020304" pitchFamily="18" charset="0"/>
                        </a:rPr>
                        <a:t>Method / Technique</a:t>
                      </a:r>
                      <a:endParaRPr lang="en-IN" sz="150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IN" sz="1500" b="1">
                          <a:latin typeface="Times New Roman" panose="02020603050405020304" pitchFamily="18" charset="0"/>
                          <a:cs typeface="Times New Roman" panose="02020603050405020304" pitchFamily="18" charset="0"/>
                        </a:rPr>
                        <a:t>Application</a:t>
                      </a:r>
                      <a:endParaRPr lang="en-IN" sz="150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IN" sz="1500" b="1">
                          <a:latin typeface="Times New Roman" panose="02020603050405020304" pitchFamily="18" charset="0"/>
                          <a:cs typeface="Times New Roman" panose="02020603050405020304" pitchFamily="18" charset="0"/>
                        </a:rPr>
                        <a:t>Key Contribution</a:t>
                      </a:r>
                      <a:endParaRPr lang="en-IN" sz="1500">
                        <a:latin typeface="Times New Roman" panose="02020603050405020304" pitchFamily="18" charset="0"/>
                        <a:cs typeface="Times New Roman" panose="02020603050405020304" pitchFamily="18" charset="0"/>
                      </a:endParaRPr>
                    </a:p>
                  </a:txBody>
                  <a:tcPr marL="55876" marR="55876" marT="27938" marB="27938" anchor="ctr"/>
                </a:tc>
                <a:extLst>
                  <a:ext uri="{0D108BD9-81ED-4DB2-BD59-A6C34878D82A}">
                    <a16:rowId xmlns:a16="http://schemas.microsoft.com/office/drawing/2014/main" val="3866789708"/>
                  </a:ext>
                </a:extLst>
              </a:tr>
              <a:tr h="1271085">
                <a:tc>
                  <a:txBody>
                    <a:bodyPr/>
                    <a:lstStyle/>
                    <a:p>
                      <a:pPr>
                        <a:buNone/>
                      </a:pPr>
                      <a:r>
                        <a:rPr lang="en-IN" sz="1500" dirty="0">
                          <a:latin typeface="Times New Roman" panose="02020603050405020304" pitchFamily="18" charset="0"/>
                          <a:cs typeface="Times New Roman" panose="02020603050405020304" pitchFamily="18" charset="0"/>
                        </a:rPr>
                        <a:t>Gonzalez et al. (2025)</a:t>
                      </a:r>
                    </a:p>
                  </a:txBody>
                  <a:tcPr marL="55876" marR="55876" marT="27938" marB="27938" anchor="ctr"/>
                </a:tc>
                <a:tc>
                  <a:txBody>
                    <a:bodyPr/>
                    <a:lstStyle/>
                    <a:p>
                      <a:pPr>
                        <a:buNone/>
                      </a:pPr>
                      <a:r>
                        <a:rPr lang="en-US" sz="1500" dirty="0">
                          <a:latin typeface="Times New Roman" panose="02020603050405020304" pitchFamily="18" charset="0"/>
                          <a:cs typeface="Times New Roman" panose="02020603050405020304" pitchFamily="18" charset="0"/>
                        </a:rPr>
                        <a:t>Type2Branch: Keystroke Biometrics Based on a Dual-Branch Architecture with Attention Mechanisms and Set2Set Loss</a:t>
                      </a:r>
                    </a:p>
                  </a:txBody>
                  <a:tcPr marL="55876" marR="55876" marT="27938" marB="27938" anchor="ctr"/>
                </a:tc>
                <a:tc>
                  <a:txBody>
                    <a:bodyPr/>
                    <a:lstStyle/>
                    <a:p>
                      <a:pPr>
                        <a:buNone/>
                      </a:pPr>
                      <a:r>
                        <a:rPr lang="en-US" sz="1500" dirty="0">
                          <a:latin typeface="Times New Roman" panose="02020603050405020304" pitchFamily="18" charset="0"/>
                          <a:cs typeface="Times New Roman" panose="02020603050405020304" pitchFamily="18" charset="0"/>
                        </a:rPr>
                        <a:t>Deep Learning (Dual-Branch CNN + RNN + Attention)</a:t>
                      </a:r>
                    </a:p>
                  </a:txBody>
                  <a:tcPr marL="55876" marR="55876" marT="27938" marB="27938" anchor="ctr"/>
                </a:tc>
                <a:tc>
                  <a:txBody>
                    <a:bodyPr/>
                    <a:lstStyle/>
                    <a:p>
                      <a:pPr>
                        <a:buNone/>
                      </a:pPr>
                      <a:r>
                        <a:rPr lang="en-IN" sz="1500" dirty="0">
                          <a:latin typeface="Times New Roman" panose="02020603050405020304" pitchFamily="18" charset="0"/>
                          <a:cs typeface="Times New Roman" panose="02020603050405020304" pitchFamily="18" charset="0"/>
                        </a:rPr>
                        <a:t>Keystroke Authentication</a:t>
                      </a:r>
                    </a:p>
                  </a:txBody>
                  <a:tcPr marL="55876" marR="55876" marT="27938" marB="27938" anchor="ctr"/>
                </a:tc>
                <a:tc>
                  <a:txBody>
                    <a:bodyPr/>
                    <a:lstStyle/>
                    <a:p>
                      <a:pPr>
                        <a:buNone/>
                      </a:pPr>
                      <a:r>
                        <a:rPr lang="en-US" sz="1500" dirty="0">
                          <a:latin typeface="Times New Roman" panose="02020603050405020304" pitchFamily="18" charset="0"/>
                          <a:cs typeface="Times New Roman" panose="02020603050405020304" pitchFamily="18" charset="0"/>
                        </a:rPr>
                        <a:t>Learns behavioral embeddings for accurate user authentication</a:t>
                      </a:r>
                    </a:p>
                  </a:txBody>
                  <a:tcPr marL="55876" marR="55876" marT="27938" marB="27938" anchor="ctr"/>
                </a:tc>
                <a:extLst>
                  <a:ext uri="{0D108BD9-81ED-4DB2-BD59-A6C34878D82A}">
                    <a16:rowId xmlns:a16="http://schemas.microsoft.com/office/drawing/2014/main" val="2822634883"/>
                  </a:ext>
                </a:extLst>
              </a:tr>
              <a:tr h="924425">
                <a:tc>
                  <a:txBody>
                    <a:bodyPr/>
                    <a:lstStyle/>
                    <a:p>
                      <a:pPr>
                        <a:buNone/>
                      </a:pPr>
                      <a:r>
                        <a:rPr lang="en-IN" sz="1600" dirty="0">
                          <a:latin typeface="Times New Roman" panose="02020603050405020304" pitchFamily="18" charset="0"/>
                          <a:cs typeface="Times New Roman" panose="02020603050405020304" pitchFamily="18" charset="0"/>
                        </a:rPr>
                        <a:t>Stragapede et al. (2024)</a:t>
                      </a:r>
                      <a:endParaRPr lang="en-IN"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US" sz="1600" dirty="0">
                          <a:latin typeface="Times New Roman" panose="02020603050405020304" pitchFamily="18" charset="0"/>
                          <a:cs typeface="Times New Roman" panose="02020603050405020304" pitchFamily="18" charset="0"/>
                        </a:rPr>
                        <a:t>IEEE Big Data 2023 Keystroke Verification Challenge (KVC)</a:t>
                      </a:r>
                      <a:endParaRPr lang="en-US"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IN" sz="1600" dirty="0">
                          <a:latin typeface="Times New Roman" panose="02020603050405020304" pitchFamily="18" charset="0"/>
                          <a:cs typeface="Times New Roman" panose="02020603050405020304" pitchFamily="18" charset="0"/>
                        </a:rPr>
                        <a:t>Large-scale Deep Learning Benchmarking</a:t>
                      </a:r>
                      <a:endParaRPr lang="en-IN"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IN" sz="1600" dirty="0">
                          <a:latin typeface="Times New Roman" panose="02020603050405020304" pitchFamily="18" charset="0"/>
                          <a:cs typeface="Times New Roman" panose="02020603050405020304" pitchFamily="18" charset="0"/>
                        </a:rPr>
                        <a:t>Keystroke Authentication</a:t>
                      </a:r>
                      <a:endParaRPr lang="en-IN"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US" sz="1500" dirty="0">
                          <a:latin typeface="Times New Roman" panose="02020603050405020304" pitchFamily="18" charset="0"/>
                          <a:cs typeface="Times New Roman" panose="02020603050405020304" pitchFamily="18" charset="0"/>
                        </a:rPr>
                        <a:t>Uses transformer architecture to improve behavioral feature extraction and reduce EER</a:t>
                      </a:r>
                    </a:p>
                  </a:txBody>
                  <a:tcPr marL="55876" marR="55876" marT="27938" marB="27938" anchor="ctr"/>
                </a:tc>
                <a:extLst>
                  <a:ext uri="{0D108BD9-81ED-4DB2-BD59-A6C34878D82A}">
                    <a16:rowId xmlns:a16="http://schemas.microsoft.com/office/drawing/2014/main" val="4237085826"/>
                  </a:ext>
                </a:extLst>
              </a:tr>
              <a:tr h="751096">
                <a:tc>
                  <a:txBody>
                    <a:bodyPr/>
                    <a:lstStyle/>
                    <a:p>
                      <a:pPr>
                        <a:buNone/>
                      </a:pPr>
                      <a:r>
                        <a:rPr lang="en-IN" sz="1600" dirty="0">
                          <a:latin typeface="Times New Roman" panose="02020603050405020304" pitchFamily="18" charset="0"/>
                          <a:cs typeface="Times New Roman" panose="02020603050405020304" pitchFamily="18" charset="0"/>
                        </a:rPr>
                        <a:t>Senerath et al. (2023)</a:t>
                      </a:r>
                      <a:endParaRPr lang="en-IN"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IN" sz="1600" dirty="0">
                          <a:latin typeface="Times New Roman" panose="02020603050405020304" pitchFamily="18" charset="0"/>
                          <a:cs typeface="Times New Roman" panose="02020603050405020304" pitchFamily="18" charset="0"/>
                        </a:rPr>
                        <a:t>Behave Former: Spatio-Temporal Dual Attention Transformers for Keystroke Dynamics</a:t>
                      </a:r>
                      <a:endParaRPr lang="en-US"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IN" sz="1600" dirty="0">
                          <a:latin typeface="Times New Roman" panose="02020603050405020304" pitchFamily="18" charset="0"/>
                          <a:cs typeface="Times New Roman" panose="02020603050405020304" pitchFamily="18" charset="0"/>
                        </a:rPr>
                        <a:t>Deep Evidential Clustering</a:t>
                      </a:r>
                      <a:endParaRPr lang="en-IN"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IN" sz="1500" dirty="0">
                          <a:latin typeface="Times New Roman" panose="02020603050405020304" pitchFamily="18" charset="0"/>
                          <a:cs typeface="Times New Roman" panose="02020603050405020304" pitchFamily="18" charset="0"/>
                        </a:rPr>
                        <a:t>Continuous Authentication</a:t>
                      </a:r>
                    </a:p>
                  </a:txBody>
                  <a:tcPr marL="55876" marR="55876" marT="27938" marB="27938" anchor="ctr"/>
                </a:tc>
                <a:tc>
                  <a:txBody>
                    <a:bodyPr/>
                    <a:lstStyle/>
                    <a:p>
                      <a:pPr>
                        <a:buNone/>
                      </a:pPr>
                      <a:r>
                        <a:rPr lang="en-US" sz="1500" dirty="0">
                          <a:latin typeface="Times New Roman" panose="02020603050405020304" pitchFamily="18" charset="0"/>
                          <a:cs typeface="Times New Roman" panose="02020603050405020304" pitchFamily="18" charset="0"/>
                        </a:rPr>
                        <a:t>Demonstrates continuous user verification using typing behavior</a:t>
                      </a:r>
                    </a:p>
                  </a:txBody>
                  <a:tcPr marL="55876" marR="55876" marT="27938" marB="27938" anchor="ctr"/>
                </a:tc>
                <a:extLst>
                  <a:ext uri="{0D108BD9-81ED-4DB2-BD59-A6C34878D82A}">
                    <a16:rowId xmlns:a16="http://schemas.microsoft.com/office/drawing/2014/main" val="2305533575"/>
                  </a:ext>
                </a:extLst>
              </a:tr>
              <a:tr h="751096">
                <a:tc>
                  <a:txBody>
                    <a:bodyPr/>
                    <a:lstStyle/>
                    <a:p>
                      <a:pPr>
                        <a:buNone/>
                      </a:pPr>
                      <a:r>
                        <a:rPr lang="en-IN" sz="1600" dirty="0">
                          <a:latin typeface="Times New Roman" panose="02020603050405020304" pitchFamily="18" charset="0"/>
                          <a:cs typeface="Times New Roman" panose="02020603050405020304" pitchFamily="18" charset="0"/>
                        </a:rPr>
                        <a:t>Ali et al. (2025)</a:t>
                      </a:r>
                      <a:endParaRPr lang="en-IN"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US" sz="1600" dirty="0">
                          <a:latin typeface="Times New Roman" panose="02020603050405020304" pitchFamily="18" charset="0"/>
                          <a:cs typeface="Times New Roman" panose="02020603050405020304" pitchFamily="18" charset="0"/>
                        </a:rPr>
                        <a:t>Real-Time Detection of Insider Threats Using Behavioral Analytics</a:t>
                      </a:r>
                      <a:endParaRPr lang="en-US"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US" sz="1500">
                          <a:latin typeface="Times New Roman" panose="02020603050405020304" pitchFamily="18" charset="0"/>
                          <a:cs typeface="Times New Roman" panose="02020603050405020304" pitchFamily="18" charset="0"/>
                        </a:rPr>
                        <a:t>Neural Networks for Behavioral Biometrics</a:t>
                      </a:r>
                    </a:p>
                  </a:txBody>
                  <a:tcPr marL="55876" marR="55876" marT="27938" marB="27938" anchor="ctr"/>
                </a:tc>
                <a:tc>
                  <a:txBody>
                    <a:bodyPr/>
                    <a:lstStyle/>
                    <a:p>
                      <a:pPr>
                        <a:buNone/>
                      </a:pPr>
                      <a:r>
                        <a:rPr lang="en-IN" sz="1600" dirty="0">
                          <a:latin typeface="Times New Roman" panose="02020603050405020304" pitchFamily="18" charset="0"/>
                          <a:cs typeface="Times New Roman" panose="02020603050405020304" pitchFamily="18" charset="0"/>
                        </a:rPr>
                        <a:t>Insider Threat Detection</a:t>
                      </a:r>
                      <a:endParaRPr lang="en-IN"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US" sz="1600" dirty="0">
                          <a:latin typeface="Times New Roman" panose="02020603050405020304" pitchFamily="18" charset="0"/>
                          <a:cs typeface="Times New Roman" panose="02020603050405020304" pitchFamily="18" charset="0"/>
                        </a:rPr>
                        <a:t>Detects insider threats using behavioral patterns and reduces false positives significantly</a:t>
                      </a:r>
                      <a:endParaRPr lang="en-US" sz="1500" dirty="0">
                        <a:latin typeface="Times New Roman" panose="02020603050405020304" pitchFamily="18" charset="0"/>
                        <a:cs typeface="Times New Roman" panose="02020603050405020304" pitchFamily="18" charset="0"/>
                      </a:endParaRPr>
                    </a:p>
                  </a:txBody>
                  <a:tcPr marL="55876" marR="55876" marT="27938" marB="27938" anchor="ctr"/>
                </a:tc>
                <a:extLst>
                  <a:ext uri="{0D108BD9-81ED-4DB2-BD59-A6C34878D82A}">
                    <a16:rowId xmlns:a16="http://schemas.microsoft.com/office/drawing/2014/main" val="2841022493"/>
                  </a:ext>
                </a:extLst>
              </a:tr>
              <a:tr h="751096">
                <a:tc>
                  <a:txBody>
                    <a:bodyPr/>
                    <a:lstStyle/>
                    <a:p>
                      <a:pPr>
                        <a:buNone/>
                      </a:pPr>
                      <a:r>
                        <a:rPr lang="en-IN" sz="1600" dirty="0">
                          <a:latin typeface="Times New Roman" panose="02020603050405020304" pitchFamily="18" charset="0"/>
                          <a:cs typeface="Times New Roman" panose="02020603050405020304" pitchFamily="18" charset="0"/>
                        </a:rPr>
                        <a:t>Martins et al. (2025)</a:t>
                      </a:r>
                      <a:endParaRPr lang="en-IN"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US" sz="1600" dirty="0">
                          <a:latin typeface="Times New Roman" panose="02020603050405020304" pitchFamily="18" charset="0"/>
                          <a:cs typeface="Times New Roman" panose="02020603050405020304" pitchFamily="18" charset="0"/>
                        </a:rPr>
                        <a:t>Keystroke Dynamics for Intelligent Biometric Authentication with Machine Learning</a:t>
                      </a:r>
                      <a:endParaRPr lang="en-US"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US" sz="1600" dirty="0">
                          <a:latin typeface="Times New Roman" panose="02020603050405020304" pitchFamily="18" charset="0"/>
                          <a:cs typeface="Times New Roman" panose="02020603050405020304" pitchFamily="18" charset="0"/>
                        </a:rPr>
                        <a:t>Machine Learning Models (RF, etc.)</a:t>
                      </a:r>
                      <a:endParaRPr lang="en-IN"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IN" sz="1600" dirty="0">
                          <a:latin typeface="Times New Roman" panose="02020603050405020304" pitchFamily="18" charset="0"/>
                          <a:cs typeface="Times New Roman" panose="02020603050405020304" pitchFamily="18" charset="0"/>
                        </a:rPr>
                        <a:t>Behavioral Authentication</a:t>
                      </a:r>
                      <a:endParaRPr lang="en-IN" sz="1500" dirty="0">
                        <a:latin typeface="Times New Roman" panose="02020603050405020304" pitchFamily="18" charset="0"/>
                        <a:cs typeface="Times New Roman" panose="02020603050405020304" pitchFamily="18" charset="0"/>
                      </a:endParaRPr>
                    </a:p>
                  </a:txBody>
                  <a:tcPr marL="55876" marR="55876" marT="27938" marB="27938" anchor="ctr"/>
                </a:tc>
                <a:tc>
                  <a:txBody>
                    <a:bodyPr/>
                    <a:lstStyle/>
                    <a:p>
                      <a:pPr>
                        <a:buNone/>
                      </a:pPr>
                      <a:r>
                        <a:rPr lang="en-US" sz="1600" dirty="0">
                          <a:latin typeface="Times New Roman" panose="02020603050405020304" pitchFamily="18" charset="0"/>
                          <a:cs typeface="Times New Roman" panose="02020603050405020304" pitchFamily="18" charset="0"/>
                        </a:rPr>
                        <a:t>Demonstrates feasibility of keystroke-based user identification using modern datasets</a:t>
                      </a:r>
                      <a:endParaRPr lang="en-US" sz="1500" dirty="0">
                        <a:latin typeface="Times New Roman" panose="02020603050405020304" pitchFamily="18" charset="0"/>
                        <a:cs typeface="Times New Roman" panose="02020603050405020304" pitchFamily="18" charset="0"/>
                      </a:endParaRPr>
                    </a:p>
                  </a:txBody>
                  <a:tcPr marL="55876" marR="55876" marT="27938" marB="27938" anchor="ctr"/>
                </a:tc>
                <a:extLst>
                  <a:ext uri="{0D108BD9-81ED-4DB2-BD59-A6C34878D82A}">
                    <a16:rowId xmlns:a16="http://schemas.microsoft.com/office/drawing/2014/main" val="1040235266"/>
                  </a:ext>
                </a:extLst>
              </a:tr>
            </a:tbl>
          </a:graphicData>
        </a:graphic>
      </p:graphicFrame>
    </p:spTree>
    <p:extLst>
      <p:ext uri="{BB962C8B-B14F-4D97-AF65-F5344CB8AC3E}">
        <p14:creationId xmlns:p14="http://schemas.microsoft.com/office/powerpoint/2010/main" val="1453700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1529F-3C2D-ECD3-F262-7206834C28F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81B9AFD-E3C5-C348-5AA5-728F70F65F05}"/>
              </a:ext>
            </a:extLst>
          </p:cNvPr>
          <p:cNvSpPr txBox="1">
            <a:spLocks noGrp="1"/>
          </p:cNvSpPr>
          <p:nvPr>
            <p:ph type="title"/>
          </p:nvPr>
        </p:nvSpPr>
        <p:spPr>
          <a:xfrm>
            <a:off x="273811" y="115011"/>
            <a:ext cx="3536189" cy="1128436"/>
          </a:xfrm>
          <a:prstGeom prst="rect">
            <a:avLst/>
          </a:prstGeom>
        </p:spPr>
        <p:txBody>
          <a:bodyPr vert="horz" wrap="square" lIns="0" tIns="507923" rIns="0" bIns="0" rtlCol="0">
            <a:spAutoFit/>
          </a:bodyPr>
          <a:lstStyle/>
          <a:p>
            <a:r>
              <a:rPr lang="en-IN" dirty="0">
                <a:solidFill>
                  <a:schemeClr val="tx1"/>
                </a:solidFill>
              </a:rPr>
              <a:t>Methodology</a:t>
            </a:r>
          </a:p>
        </p:txBody>
      </p:sp>
      <p:sp>
        <p:nvSpPr>
          <p:cNvPr id="4" name="object 4">
            <a:extLst>
              <a:ext uri="{FF2B5EF4-FFF2-40B4-BE49-F238E27FC236}">
                <a16:creationId xmlns:a16="http://schemas.microsoft.com/office/drawing/2014/main" id="{97295906-EEDB-A073-2571-D4D707C4BB7A}"/>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3" name="object 13">
            <a:extLst>
              <a:ext uri="{FF2B5EF4-FFF2-40B4-BE49-F238E27FC236}">
                <a16:creationId xmlns:a16="http://schemas.microsoft.com/office/drawing/2014/main" id="{4351E575-215B-6E17-AFDC-0B5309BB876F}"/>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7B599589-C375-4D16-8B10-FCE3D8227860}" type="datetime1">
              <a:rPr lang="en-US" spc="-50" smtClean="0"/>
              <a:t>4/28/2026</a:t>
            </a:fld>
            <a:endParaRPr spc="-50" dirty="0"/>
          </a:p>
        </p:txBody>
      </p:sp>
      <p:sp>
        <p:nvSpPr>
          <p:cNvPr id="14" name="TextBox 13">
            <a:extLst>
              <a:ext uri="{FF2B5EF4-FFF2-40B4-BE49-F238E27FC236}">
                <a16:creationId xmlns:a16="http://schemas.microsoft.com/office/drawing/2014/main" id="{35A4F6C1-642A-2953-168F-D1661333919E}"/>
              </a:ext>
            </a:extLst>
          </p:cNvPr>
          <p:cNvSpPr txBox="1"/>
          <p:nvPr/>
        </p:nvSpPr>
        <p:spPr>
          <a:xfrm>
            <a:off x="419100" y="1586648"/>
            <a:ext cx="11353800" cy="378206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Feature Representation (The Input)</a:t>
            </a:r>
          </a:p>
          <a:p>
            <a:pPr algn="just">
              <a:lnSpc>
                <a:spcPct val="150000"/>
              </a:lnSpc>
            </a:pPr>
            <a:r>
              <a:rPr lang="en-IN" dirty="0">
                <a:latin typeface="Times New Roman" panose="02020603050405020304" pitchFamily="18" charset="0"/>
                <a:cs typeface="Times New Roman" panose="02020603050405020304" pitchFamily="18" charset="0"/>
              </a:rPr>
              <a:t>Signal Extraction: Captured raw Hold time (HT) and Flight-time (FT) vectors with Microsecond precision.</a:t>
            </a:r>
          </a:p>
          <a:p>
            <a:pPr algn="just">
              <a:lnSpc>
                <a:spcPct val="150000"/>
              </a:lnSpc>
            </a:pPr>
            <a:r>
              <a:rPr lang="en-IN" dirty="0">
                <a:latin typeface="Times New Roman" panose="02020603050405020304" pitchFamily="18" charset="0"/>
                <a:cs typeface="Times New Roman" panose="02020603050405020304" pitchFamily="18" charset="0"/>
              </a:rPr>
              <a:t>Normalization: Min-Max scaling of temporal features to handle variances in global keyboard sampling rates.</a:t>
            </a:r>
          </a:p>
          <a:p>
            <a:pPr algn="just">
              <a:lnSpc>
                <a:spcPct val="150000"/>
              </a:lnSpc>
            </a:pPr>
            <a:r>
              <a:rPr lang="en-IN" dirty="0">
                <a:latin typeface="Times New Roman" panose="02020603050405020304" pitchFamily="18" charset="0"/>
                <a:cs typeface="Times New Roman" panose="02020603050405020304" pitchFamily="18" charset="0"/>
              </a:rPr>
              <a:t>Augmentation: Synthetic jitter injection during training to simulate physical fatigue and varied environmental conditions.</a:t>
            </a:r>
          </a:p>
          <a:p>
            <a:pPr algn="just">
              <a:lnSpc>
                <a:spcPct val="150000"/>
              </a:lnSpc>
            </a:pPr>
            <a:endParaRPr lang="en-IN"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Gate 1: Non-Stationary Anomaly Detection (AI </a:t>
            </a:r>
            <a:r>
              <a:rPr lang="en-IN" dirty="0" err="1">
                <a:latin typeface="Times New Roman" panose="02020603050405020304" pitchFamily="18" charset="0"/>
                <a:cs typeface="Times New Roman" panose="02020603050405020304" pitchFamily="18" charset="0"/>
              </a:rPr>
              <a:t>Defense</a:t>
            </a:r>
            <a:r>
              <a:rPr lang="en-IN" dirty="0">
                <a:latin typeface="Times New Roman" panose="02020603050405020304" pitchFamily="18" charset="0"/>
                <a:cs typeface="Times New Roman" panose="02020603050405020304" pitchFamily="18" charset="0"/>
              </a:rPr>
              <a:t>)</a:t>
            </a:r>
          </a:p>
          <a:p>
            <a:pPr algn="just">
              <a:lnSpc>
                <a:spcPct val="150000"/>
              </a:lnSpc>
            </a:pPr>
            <a:r>
              <a:rPr lang="en-IN" dirty="0">
                <a:latin typeface="Times New Roman" panose="02020603050405020304" pitchFamily="18" charset="0"/>
                <a:cs typeface="Times New Roman" panose="02020603050405020304" pitchFamily="18" charset="0"/>
              </a:rPr>
              <a:t>Heuristic Engine: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the 'Rhythm Velocity' of the input sequence.</a:t>
            </a:r>
          </a:p>
          <a:p>
            <a:pPr algn="just">
              <a:lnSpc>
                <a:spcPct val="150000"/>
              </a:lnSpc>
            </a:pPr>
            <a:r>
              <a:rPr lang="en-IN" dirty="0">
                <a:latin typeface="Times New Roman" panose="02020603050405020304" pitchFamily="18" charset="0"/>
                <a:cs typeface="Times New Roman" panose="02020603050405020304" pitchFamily="18" charset="0"/>
              </a:rPr>
              <a:t>Anomaly Logic: Detects zero-variance flight times (programmatic pastes) and superhuman average speeds (bot scripts).</a:t>
            </a:r>
          </a:p>
          <a:p>
            <a:pPr algn="just">
              <a:lnSpc>
                <a:spcPct val="150000"/>
              </a:lnSpc>
            </a:pPr>
            <a:r>
              <a:rPr lang="en-IN" dirty="0">
                <a:latin typeface="Times New Roman" panose="02020603050405020304" pitchFamily="18" charset="0"/>
                <a:cs typeface="Times New Roman" panose="02020603050405020304" pitchFamily="18" charset="0"/>
              </a:rPr>
              <a:t>Security Goal: Immediate session termination if a non-biological typing signature is detected.</a:t>
            </a:r>
          </a:p>
        </p:txBody>
      </p:sp>
      <p:sp>
        <p:nvSpPr>
          <p:cNvPr id="2" name="Slide Number Placeholder 1">
            <a:extLst>
              <a:ext uri="{FF2B5EF4-FFF2-40B4-BE49-F238E27FC236}">
                <a16:creationId xmlns:a16="http://schemas.microsoft.com/office/drawing/2014/main" id="{E4FA083D-678A-234A-256B-D325153CD095}"/>
              </a:ext>
            </a:extLst>
          </p:cNvPr>
          <p:cNvSpPr>
            <a:spLocks noGrp="1"/>
          </p:cNvSpPr>
          <p:nvPr>
            <p:ph type="sldNum" sz="quarter" idx="7"/>
          </p:nvPr>
        </p:nvSpPr>
        <p:spPr/>
        <p:txBody>
          <a:bodyPr/>
          <a:lstStyle/>
          <a:p>
            <a:pPr marL="12700">
              <a:lnSpc>
                <a:spcPts val="1650"/>
              </a:lnSpc>
            </a:pPr>
            <a:fld id="{81D60167-4931-47E6-BA6A-407CBD079E47}" type="slidenum">
              <a:rPr lang="en-IN" spc="-25" smtClean="0"/>
              <a:t>7</a:t>
            </a:fld>
            <a:endParaRPr lang="en-IN" spc="-25" dirty="0"/>
          </a:p>
        </p:txBody>
      </p:sp>
    </p:spTree>
    <p:extLst>
      <p:ext uri="{BB962C8B-B14F-4D97-AF65-F5344CB8AC3E}">
        <p14:creationId xmlns:p14="http://schemas.microsoft.com/office/powerpoint/2010/main" val="616190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25782-18D0-4810-12F7-56D8358D828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B828B4F-54E2-5C58-4123-C12D56B6B147}"/>
              </a:ext>
            </a:extLst>
          </p:cNvPr>
          <p:cNvSpPr txBox="1">
            <a:spLocks noGrp="1"/>
          </p:cNvSpPr>
          <p:nvPr>
            <p:ph type="title"/>
          </p:nvPr>
        </p:nvSpPr>
        <p:spPr>
          <a:xfrm>
            <a:off x="273811" y="115011"/>
            <a:ext cx="3536189" cy="1128436"/>
          </a:xfrm>
          <a:prstGeom prst="rect">
            <a:avLst/>
          </a:prstGeom>
        </p:spPr>
        <p:txBody>
          <a:bodyPr vert="horz" wrap="square" lIns="0" tIns="507923" rIns="0" bIns="0" rtlCol="0">
            <a:spAutoFit/>
          </a:bodyPr>
          <a:lstStyle/>
          <a:p>
            <a:r>
              <a:rPr lang="en-IN" dirty="0">
                <a:solidFill>
                  <a:schemeClr val="tx1"/>
                </a:solidFill>
              </a:rPr>
              <a:t>Methodology</a:t>
            </a:r>
          </a:p>
        </p:txBody>
      </p:sp>
      <p:sp>
        <p:nvSpPr>
          <p:cNvPr id="4" name="object 4">
            <a:extLst>
              <a:ext uri="{FF2B5EF4-FFF2-40B4-BE49-F238E27FC236}">
                <a16:creationId xmlns:a16="http://schemas.microsoft.com/office/drawing/2014/main" id="{8E41E728-8BD7-3A3C-CC95-D9412317E79C}"/>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3" name="object 13">
            <a:extLst>
              <a:ext uri="{FF2B5EF4-FFF2-40B4-BE49-F238E27FC236}">
                <a16:creationId xmlns:a16="http://schemas.microsoft.com/office/drawing/2014/main" id="{C870073D-1CAA-6891-6940-843171A0F633}"/>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7B599589-C375-4D16-8B10-FCE3D8227860}" type="datetime1">
              <a:rPr lang="en-US" spc="-50" smtClean="0"/>
              <a:t>4/28/2026</a:t>
            </a:fld>
            <a:endParaRPr spc="-50" dirty="0"/>
          </a:p>
        </p:txBody>
      </p:sp>
      <p:sp>
        <p:nvSpPr>
          <p:cNvPr id="14" name="TextBox 13">
            <a:extLst>
              <a:ext uri="{FF2B5EF4-FFF2-40B4-BE49-F238E27FC236}">
                <a16:creationId xmlns:a16="http://schemas.microsoft.com/office/drawing/2014/main" id="{EACCED42-70FF-7FBA-6EE8-0563E5D9476C}"/>
              </a:ext>
            </a:extLst>
          </p:cNvPr>
          <p:cNvSpPr txBox="1"/>
          <p:nvPr/>
        </p:nvSpPr>
        <p:spPr>
          <a:xfrm>
            <a:off x="472832" y="1243447"/>
            <a:ext cx="11353800" cy="502855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Gate 2: Deep Metric Learning (Biometric Target)</a:t>
            </a:r>
          </a:p>
          <a:p>
            <a:pPr algn="just">
              <a:lnSpc>
                <a:spcPct val="150000"/>
              </a:lnSpc>
            </a:pPr>
            <a:r>
              <a:rPr lang="en-IN" dirty="0">
                <a:latin typeface="Times New Roman" panose="02020603050405020304" pitchFamily="18" charset="0"/>
                <a:cs typeface="Times New Roman" panose="02020603050405020304" pitchFamily="18" charset="0"/>
              </a:rPr>
              <a:t>Model Architecture: Type2Branch (Shared-Weight deep network).</a:t>
            </a:r>
          </a:p>
          <a:p>
            <a:pPr algn="just">
              <a:lnSpc>
                <a:spcPct val="150000"/>
              </a:lnSpc>
            </a:pPr>
            <a:r>
              <a:rPr lang="en-IN" dirty="0">
                <a:latin typeface="Times New Roman" panose="02020603050405020304" pitchFamily="18" charset="0"/>
                <a:cs typeface="Times New Roman" panose="02020603050405020304" pitchFamily="18" charset="0"/>
              </a:rPr>
              <a:t>Conv1D Layers: Extract short-term local bigram/trigram patterns.</a:t>
            </a:r>
          </a:p>
          <a:p>
            <a:pPr algn="just">
              <a:lnSpc>
                <a:spcPct val="150000"/>
              </a:lnSpc>
            </a:pPr>
            <a:r>
              <a:rPr lang="en-IN" dirty="0">
                <a:latin typeface="Times New Roman" panose="02020603050405020304" pitchFamily="18" charset="0"/>
                <a:cs typeface="Times New Roman" panose="02020603050405020304" pitchFamily="18" charset="0"/>
              </a:rPr>
              <a:t>    Bi-LSTM Layers: Captures long-term sequential dependencies (rhythm over the full 100-key buffer).</a:t>
            </a:r>
          </a:p>
          <a:p>
            <a:pPr algn="just">
              <a:lnSpc>
                <a:spcPct val="150000"/>
              </a:lnSpc>
            </a:pPr>
            <a:r>
              <a:rPr lang="en-IN" dirty="0">
                <a:latin typeface="Times New Roman" panose="02020603050405020304" pitchFamily="18" charset="0"/>
                <a:cs typeface="Times New Roman" panose="02020603050405020304" pitchFamily="18" charset="0"/>
              </a:rPr>
              <a:t>    Core Strategy: Contrastive Triplet Learning.</a:t>
            </a:r>
          </a:p>
          <a:p>
            <a:pPr algn="just">
              <a:lnSpc>
                <a:spcPct val="150000"/>
              </a:lnSpc>
            </a:pPr>
            <a:r>
              <a:rPr lang="en-IN" dirty="0">
                <a:latin typeface="Times New Roman" panose="02020603050405020304" pitchFamily="18" charset="0"/>
                <a:cs typeface="Times New Roman" panose="02020603050405020304" pitchFamily="18" charset="0"/>
              </a:rPr>
              <a:t>  - Minimizes distance between 'Anchor' and 'Positive' (Genuine User).</a:t>
            </a:r>
          </a:p>
          <a:p>
            <a:pPr algn="just">
              <a:lnSpc>
                <a:spcPct val="150000"/>
              </a:lnSpc>
            </a:pPr>
            <a:r>
              <a:rPr lang="en-IN" dirty="0">
                <a:latin typeface="Times New Roman" panose="02020603050405020304" pitchFamily="18" charset="0"/>
                <a:cs typeface="Times New Roman" panose="02020603050405020304" pitchFamily="18" charset="0"/>
              </a:rPr>
              <a:t>  - Maximizes distance between 'Anchor' and 'Negative' (Impostors/Random Users).</a:t>
            </a: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Verification &amp; Backend Integration</a:t>
            </a:r>
          </a:p>
          <a:p>
            <a:pPr algn="just">
              <a:lnSpc>
                <a:spcPct val="150000"/>
              </a:lnSpc>
            </a:pPr>
            <a:r>
              <a:rPr lang="en-IN" dirty="0">
                <a:latin typeface="Times New Roman" panose="02020603050405020304" pitchFamily="18" charset="0"/>
                <a:cs typeface="Times New Roman" panose="02020603050405020304" pitchFamily="18" charset="0"/>
              </a:rPr>
              <a:t>Distance Metric: Euclidean (L2) distance calculation in a 128-dimension hypersphere.</a:t>
            </a:r>
          </a:p>
          <a:p>
            <a:pPr algn="just">
              <a:lnSpc>
                <a:spcPct val="150000"/>
              </a:lnSpc>
            </a:pPr>
            <a:r>
              <a:rPr lang="en-IN" dirty="0">
                <a:latin typeface="Times New Roman" panose="02020603050405020304" pitchFamily="18" charset="0"/>
                <a:cs typeface="Times New Roman" panose="02020603050405020304" pitchFamily="18" charset="0"/>
              </a:rPr>
              <a:t>Calibrated Decision: Comparison against a static threshold (15.14) derived from EER optimization.</a:t>
            </a:r>
          </a:p>
          <a:p>
            <a:pPr algn="just">
              <a:lnSpc>
                <a:spcPct val="150000"/>
              </a:lnSpc>
            </a:pPr>
            <a:r>
              <a:rPr lang="en-IN" dirty="0">
                <a:latin typeface="Times New Roman" panose="02020603050405020304" pitchFamily="18" charset="0"/>
                <a:cs typeface="Times New Roman" panose="02020603050405020304" pitchFamily="18" charset="0"/>
              </a:rPr>
              <a:t>Continuous Monitoring: Every 100 keystrokes re-triggers the full Dual-Gate pipeline for transparent background security.</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A718B59-E4FD-4214-DEAC-960B6E0AE061}"/>
              </a:ext>
            </a:extLst>
          </p:cNvPr>
          <p:cNvSpPr>
            <a:spLocks noGrp="1"/>
          </p:cNvSpPr>
          <p:nvPr>
            <p:ph type="sldNum" sz="quarter" idx="7"/>
          </p:nvPr>
        </p:nvSpPr>
        <p:spPr/>
        <p:txBody>
          <a:bodyPr/>
          <a:lstStyle/>
          <a:p>
            <a:pPr marL="12700">
              <a:lnSpc>
                <a:spcPts val="1650"/>
              </a:lnSpc>
            </a:pPr>
            <a:fld id="{81D60167-4931-47E6-BA6A-407CBD079E47}" type="slidenum">
              <a:rPr lang="en-IN" spc="-25" smtClean="0"/>
              <a:t>8</a:t>
            </a:fld>
            <a:endParaRPr lang="en-IN" spc="-25" dirty="0"/>
          </a:p>
        </p:txBody>
      </p:sp>
    </p:spTree>
    <p:extLst>
      <p:ext uri="{BB962C8B-B14F-4D97-AF65-F5344CB8AC3E}">
        <p14:creationId xmlns:p14="http://schemas.microsoft.com/office/powerpoint/2010/main" val="1731872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D155B-C6CD-ADD5-DC3E-5CF858BB00A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327ABA6-39DA-A2AF-7304-2F22663B9637}"/>
              </a:ext>
            </a:extLst>
          </p:cNvPr>
          <p:cNvSpPr txBox="1">
            <a:spLocks noGrp="1"/>
          </p:cNvSpPr>
          <p:nvPr>
            <p:ph type="title"/>
          </p:nvPr>
        </p:nvSpPr>
        <p:spPr>
          <a:xfrm>
            <a:off x="273811" y="115011"/>
            <a:ext cx="2393189" cy="1128436"/>
          </a:xfrm>
          <a:prstGeom prst="rect">
            <a:avLst/>
          </a:prstGeom>
        </p:spPr>
        <p:txBody>
          <a:bodyPr vert="horz" wrap="square" lIns="0" tIns="507923" rIns="0" bIns="0" rtlCol="0">
            <a:spAutoFit/>
          </a:bodyPr>
          <a:lstStyle/>
          <a:p>
            <a:pPr marL="121920">
              <a:lnSpc>
                <a:spcPct val="100000"/>
              </a:lnSpc>
              <a:spcBef>
                <a:spcPts val="95"/>
              </a:spcBef>
            </a:pPr>
            <a:r>
              <a:rPr lang="en-IN" spc="254" dirty="0">
                <a:solidFill>
                  <a:schemeClr val="tx1"/>
                </a:solidFill>
                <a:latin typeface="Times New Roman" panose="02020603050405020304" pitchFamily="18" charset="0"/>
                <a:cs typeface="Times New Roman" panose="02020603050405020304" pitchFamily="18" charset="0"/>
              </a:rPr>
              <a:t>Modules</a:t>
            </a:r>
            <a:endParaRPr spc="305" dirty="0">
              <a:solidFill>
                <a:schemeClr val="tx1"/>
              </a:solidFill>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AF7E39BD-FB9F-3098-2E54-330FB82FD5E3}"/>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3" name="object 13">
            <a:extLst>
              <a:ext uri="{FF2B5EF4-FFF2-40B4-BE49-F238E27FC236}">
                <a16:creationId xmlns:a16="http://schemas.microsoft.com/office/drawing/2014/main" id="{3B380068-FDEA-F9BF-0D99-4B0CC7AF90DC}"/>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7B599589-C375-4D16-8B10-FCE3D8227860}" type="datetime1">
              <a:rPr lang="en-US" spc="-50" smtClean="0"/>
              <a:t>4/28/2026</a:t>
            </a:fld>
            <a:endParaRPr spc="-50" dirty="0"/>
          </a:p>
        </p:txBody>
      </p:sp>
      <p:sp>
        <p:nvSpPr>
          <p:cNvPr id="14" name="TextBox 13">
            <a:extLst>
              <a:ext uri="{FF2B5EF4-FFF2-40B4-BE49-F238E27FC236}">
                <a16:creationId xmlns:a16="http://schemas.microsoft.com/office/drawing/2014/main" id="{F549C930-99F7-8FBB-A130-713F31D8D3AA}"/>
              </a:ext>
            </a:extLst>
          </p:cNvPr>
          <p:cNvSpPr txBox="1"/>
          <p:nvPr/>
        </p:nvSpPr>
        <p:spPr>
          <a:xfrm>
            <a:off x="388111" y="1583409"/>
            <a:ext cx="11353800" cy="4336059"/>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Data Acquisition Module</a:t>
            </a: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Captures keystroke events from </a:t>
            </a:r>
            <a:r>
              <a:rPr lang="en-IN" dirty="0" err="1">
                <a:latin typeface="Times New Roman" panose="02020603050405020304" pitchFamily="18" charset="0"/>
                <a:cs typeface="Times New Roman" panose="02020603050405020304" pitchFamily="18" charset="0"/>
              </a:rPr>
              <a:t>keydown</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keyup</a:t>
            </a:r>
            <a:r>
              <a:rPr lang="en-IN" dirty="0">
                <a:latin typeface="Times New Roman" panose="02020603050405020304" pitchFamily="18" charset="0"/>
                <a:cs typeface="Times New Roman" panose="02020603050405020304" pitchFamily="18" charset="0"/>
              </a:rPr>
              <a:t> in the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app and from Aalto logs for offline training.</a:t>
            </a: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Stores keycode, press/release timing, and session-wise samples.</a:t>
            </a:r>
          </a:p>
          <a:p>
            <a:pPr algn="just">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Feature Extraction Module</a:t>
            </a: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Computes core timing features: hold time (HT) and flight time (FT).</a:t>
            </a: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Builds fixed-length sequences and synthetic deviation features (</a:t>
            </a:r>
            <a:r>
              <a:rPr lang="en-IN" dirty="0" err="1">
                <a:latin typeface="Times New Roman" panose="02020603050405020304" pitchFamily="18" charset="0"/>
                <a:cs typeface="Times New Roman" panose="02020603050405020304" pitchFamily="18" charset="0"/>
              </a:rPr>
              <a:t>sHT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sFT</a:t>
            </a:r>
            <a:r>
              <a:rPr lang="en-IN" dirty="0">
                <a:latin typeface="Times New Roman" panose="02020603050405020304" pitchFamily="18" charset="0"/>
                <a:cs typeface="Times New Roman" panose="02020603050405020304" pitchFamily="18" charset="0"/>
              </a:rPr>
              <a:t>) for model input.</a:t>
            </a:r>
          </a:p>
          <a:p>
            <a:pPr algn="just">
              <a:lnSpc>
                <a:spcPct val="150000"/>
              </a:lnSpc>
            </a:pPr>
            <a:r>
              <a:rPr lang="en-IN" sz="2000" b="1" dirty="0">
                <a:latin typeface="Times New Roman" panose="02020603050405020304" pitchFamily="18" charset="0"/>
                <a:cs typeface="Times New Roman" panose="02020603050405020304" pitchFamily="18" charset="0"/>
              </a:rPr>
              <a:t>• LLM/Paste Detection Module (Pre-Filter)</a:t>
            </a: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Applies rule-based heuristics to detect pasted or automated typing (near-zero FT, low variance, burst patterns, entropy checks).</a:t>
            </a:r>
          </a:p>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Flags suspicious samples before final biometric decision.</a:t>
            </a:r>
          </a:p>
        </p:txBody>
      </p:sp>
      <p:sp>
        <p:nvSpPr>
          <p:cNvPr id="2" name="Slide Number Placeholder 1">
            <a:extLst>
              <a:ext uri="{FF2B5EF4-FFF2-40B4-BE49-F238E27FC236}">
                <a16:creationId xmlns:a16="http://schemas.microsoft.com/office/drawing/2014/main" id="{2E30112D-1E07-FBDD-2936-E5BB140E9EBD}"/>
              </a:ext>
            </a:extLst>
          </p:cNvPr>
          <p:cNvSpPr>
            <a:spLocks noGrp="1"/>
          </p:cNvSpPr>
          <p:nvPr>
            <p:ph type="sldNum" sz="quarter" idx="7"/>
          </p:nvPr>
        </p:nvSpPr>
        <p:spPr/>
        <p:txBody>
          <a:bodyPr/>
          <a:lstStyle/>
          <a:p>
            <a:pPr marL="12700">
              <a:lnSpc>
                <a:spcPts val="1650"/>
              </a:lnSpc>
            </a:pPr>
            <a:fld id="{81D60167-4931-47E6-BA6A-407CBD079E47}" type="slidenum">
              <a:rPr lang="en-IN" spc="-25" smtClean="0"/>
              <a:t>9</a:t>
            </a:fld>
            <a:endParaRPr lang="en-IN" spc="-25" dirty="0"/>
          </a:p>
        </p:txBody>
      </p:sp>
    </p:spTree>
    <p:extLst>
      <p:ext uri="{BB962C8B-B14F-4D97-AF65-F5344CB8AC3E}">
        <p14:creationId xmlns:p14="http://schemas.microsoft.com/office/powerpoint/2010/main" val="2108933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12939-DC04-2C9B-9C16-3FB913E5B54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78A52C1-5E4B-BB03-3663-00B6DA0F3A23}"/>
              </a:ext>
            </a:extLst>
          </p:cNvPr>
          <p:cNvSpPr txBox="1">
            <a:spLocks noGrp="1"/>
          </p:cNvSpPr>
          <p:nvPr>
            <p:ph type="title"/>
          </p:nvPr>
        </p:nvSpPr>
        <p:spPr>
          <a:xfrm>
            <a:off x="273811" y="115011"/>
            <a:ext cx="2393189" cy="1128436"/>
          </a:xfrm>
          <a:prstGeom prst="rect">
            <a:avLst/>
          </a:prstGeom>
        </p:spPr>
        <p:txBody>
          <a:bodyPr vert="horz" wrap="square" lIns="0" tIns="507923" rIns="0" bIns="0" rtlCol="0">
            <a:spAutoFit/>
          </a:bodyPr>
          <a:lstStyle/>
          <a:p>
            <a:pPr marL="121920">
              <a:lnSpc>
                <a:spcPct val="100000"/>
              </a:lnSpc>
              <a:spcBef>
                <a:spcPts val="95"/>
              </a:spcBef>
            </a:pPr>
            <a:r>
              <a:rPr lang="en-IN" spc="254" dirty="0">
                <a:solidFill>
                  <a:schemeClr val="tx1"/>
                </a:solidFill>
                <a:latin typeface="Times New Roman" panose="02020603050405020304" pitchFamily="18" charset="0"/>
                <a:cs typeface="Times New Roman" panose="02020603050405020304" pitchFamily="18" charset="0"/>
              </a:rPr>
              <a:t>Modules</a:t>
            </a:r>
            <a:endParaRPr spc="305" dirty="0">
              <a:solidFill>
                <a:schemeClr val="tx1"/>
              </a:solidFill>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A3D37473-D2BD-63E3-D8C8-C2848A5F007B}"/>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3" name="object 13">
            <a:extLst>
              <a:ext uri="{FF2B5EF4-FFF2-40B4-BE49-F238E27FC236}">
                <a16:creationId xmlns:a16="http://schemas.microsoft.com/office/drawing/2014/main" id="{6D4AB771-63BC-7B69-E657-1F5BECFCDA4A}"/>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7B599589-C375-4D16-8B10-FCE3D8227860}" type="datetime1">
              <a:rPr lang="en-US" spc="-50" smtClean="0"/>
              <a:t>4/28/2026</a:t>
            </a:fld>
            <a:endParaRPr spc="-50" dirty="0"/>
          </a:p>
        </p:txBody>
      </p:sp>
      <p:sp>
        <p:nvSpPr>
          <p:cNvPr id="14" name="TextBox 13">
            <a:extLst>
              <a:ext uri="{FF2B5EF4-FFF2-40B4-BE49-F238E27FC236}">
                <a16:creationId xmlns:a16="http://schemas.microsoft.com/office/drawing/2014/main" id="{81A95334-2015-FE7A-0D59-A1B109509A4F}"/>
              </a:ext>
            </a:extLst>
          </p:cNvPr>
          <p:cNvSpPr txBox="1"/>
          <p:nvPr/>
        </p:nvSpPr>
        <p:spPr>
          <a:xfrm>
            <a:off x="388111" y="1583409"/>
            <a:ext cx="11353800" cy="502855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Gate 2: Deep Metric Learning Module</a:t>
            </a:r>
            <a:endParaRPr lang="en-US" dirty="0">
              <a:latin typeface="Times New Roman" panose="02020603050405020304" pitchFamily="18" charset="0"/>
              <a:cs typeface="Times New Roman" panose="02020603050405020304" pitchFamily="18" charset="0"/>
            </a:endParaRPr>
          </a:p>
          <a:p>
            <a:pPr marL="285750" lvl="1"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Utilizes a shared-weight Neural Network architecture (Conv1D + Bi-LSTM layers) to map temporal rhythms.</a:t>
            </a:r>
          </a:p>
          <a:p>
            <a:pPr marL="285750" lvl="1"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Generates a 128-dimensional biometric embedding representing the unique </a:t>
            </a:r>
            <a:r>
              <a:rPr lang="en-US" dirty="0" err="1">
                <a:latin typeface="Times New Roman" panose="02020603050405020304" pitchFamily="18" charset="0"/>
                <a:cs typeface="Times New Roman" panose="02020603050405020304" pitchFamily="18" charset="0"/>
              </a:rPr>
              <a:t>behavioural</a:t>
            </a:r>
            <a:r>
              <a:rPr lang="en-US" dirty="0">
                <a:latin typeface="Times New Roman" panose="02020603050405020304" pitchFamily="18" charset="0"/>
                <a:cs typeface="Times New Roman" panose="02020603050405020304" pitchFamily="18" charset="0"/>
              </a:rPr>
              <a:t> signature of the typist.</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Authentication &amp; Decision Module</a:t>
            </a:r>
            <a:endParaRPr lang="en-US" dirty="0">
              <a:latin typeface="Times New Roman" panose="02020603050405020304" pitchFamily="18" charset="0"/>
              <a:cs typeface="Times New Roman" panose="02020603050405020304" pitchFamily="18" charset="0"/>
            </a:endParaRPr>
          </a:p>
          <a:p>
            <a:pPr marL="285750" lvl="1"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Calculates the Euclidean (L2) distance between the biological input embedding and the stored gallery profile.</a:t>
            </a:r>
          </a:p>
          <a:p>
            <a:pPr marL="285750" lvl="1"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Enforces a strict calibrated EER threshold (15.14) to output a final Accept/Reject binary decision.</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Continuous Monitoring Interface Module</a:t>
            </a:r>
            <a:endParaRPr lang="en-US" dirty="0">
              <a:latin typeface="Times New Roman" panose="02020603050405020304" pitchFamily="18" charset="0"/>
              <a:cs typeface="Times New Roman" panose="02020603050405020304" pitchFamily="18" charset="0"/>
            </a:endParaRPr>
          </a:p>
          <a:p>
            <a:pPr marL="285750" lvl="1"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Operates an asynchronous background loop via the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backend, re-authenticating the user repeatedly without interrupting workflow.</a:t>
            </a:r>
          </a:p>
          <a:p>
            <a:pPr marL="285750" lvl="1"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Dynamically updates security states and outputs visual metrics (t-SNE clusters, distance histograms) for administrator review.</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92EFEA86-C4CD-E3F7-1A44-27739DD2C171}"/>
              </a:ext>
            </a:extLst>
          </p:cNvPr>
          <p:cNvSpPr>
            <a:spLocks noGrp="1"/>
          </p:cNvSpPr>
          <p:nvPr>
            <p:ph type="sldNum" sz="quarter" idx="7"/>
          </p:nvPr>
        </p:nvSpPr>
        <p:spPr/>
        <p:txBody>
          <a:bodyPr/>
          <a:lstStyle/>
          <a:p>
            <a:pPr marL="12700">
              <a:lnSpc>
                <a:spcPts val="1650"/>
              </a:lnSpc>
            </a:pPr>
            <a:fld id="{81D60167-4931-47E6-BA6A-407CBD079E47}" type="slidenum">
              <a:rPr lang="en-IN" spc="-25" smtClean="0"/>
              <a:t>10</a:t>
            </a:fld>
            <a:endParaRPr lang="en-IN" spc="-25" dirty="0"/>
          </a:p>
        </p:txBody>
      </p:sp>
    </p:spTree>
    <p:extLst>
      <p:ext uri="{BB962C8B-B14F-4D97-AF65-F5344CB8AC3E}">
        <p14:creationId xmlns:p14="http://schemas.microsoft.com/office/powerpoint/2010/main" val="1264547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BC960-B77C-841A-78B2-37D6428862D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F0FDDEA-E515-ED9B-F43D-2061B9ADE26B}"/>
              </a:ext>
            </a:extLst>
          </p:cNvPr>
          <p:cNvSpPr txBox="1">
            <a:spLocks noGrp="1"/>
          </p:cNvSpPr>
          <p:nvPr>
            <p:ph type="title"/>
          </p:nvPr>
        </p:nvSpPr>
        <p:spPr>
          <a:xfrm>
            <a:off x="273811" y="0"/>
            <a:ext cx="2393189" cy="1128436"/>
          </a:xfrm>
          <a:prstGeom prst="rect">
            <a:avLst/>
          </a:prstGeom>
        </p:spPr>
        <p:txBody>
          <a:bodyPr vert="horz" wrap="square" lIns="0" tIns="507923" rIns="0" bIns="0" rtlCol="0">
            <a:spAutoFit/>
          </a:bodyPr>
          <a:lstStyle/>
          <a:p>
            <a:pPr marL="121920">
              <a:lnSpc>
                <a:spcPct val="100000"/>
              </a:lnSpc>
              <a:spcBef>
                <a:spcPts val="95"/>
              </a:spcBef>
            </a:pPr>
            <a:r>
              <a:rPr lang="en-IN" spc="254" dirty="0">
                <a:solidFill>
                  <a:schemeClr val="tx1"/>
                </a:solidFill>
                <a:latin typeface="Times New Roman" panose="02020603050405020304" pitchFamily="18" charset="0"/>
                <a:cs typeface="Times New Roman" panose="02020603050405020304" pitchFamily="18" charset="0"/>
              </a:rPr>
              <a:t>Dataset</a:t>
            </a:r>
            <a:endParaRPr spc="305" dirty="0">
              <a:solidFill>
                <a:schemeClr val="tx1"/>
              </a:solidFill>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94E80FD6-A917-5979-7546-C72668A2324B}"/>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3" name="object 13">
            <a:extLst>
              <a:ext uri="{FF2B5EF4-FFF2-40B4-BE49-F238E27FC236}">
                <a16:creationId xmlns:a16="http://schemas.microsoft.com/office/drawing/2014/main" id="{840089CD-0DEB-9030-24B4-2A85EA7888BA}"/>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7B599589-C375-4D16-8B10-FCE3D8227860}" type="datetime1">
              <a:rPr lang="en-US" spc="-50" smtClean="0"/>
              <a:t>4/28/2026</a:t>
            </a:fld>
            <a:endParaRPr spc="-50" dirty="0"/>
          </a:p>
        </p:txBody>
      </p:sp>
      <p:sp>
        <p:nvSpPr>
          <p:cNvPr id="2" name="Slide Number Placeholder 1">
            <a:extLst>
              <a:ext uri="{FF2B5EF4-FFF2-40B4-BE49-F238E27FC236}">
                <a16:creationId xmlns:a16="http://schemas.microsoft.com/office/drawing/2014/main" id="{EBB08DE0-CBEE-7157-1262-CC207FE3ABDF}"/>
              </a:ext>
            </a:extLst>
          </p:cNvPr>
          <p:cNvSpPr>
            <a:spLocks noGrp="1"/>
          </p:cNvSpPr>
          <p:nvPr>
            <p:ph type="sldNum" sz="quarter" idx="7"/>
          </p:nvPr>
        </p:nvSpPr>
        <p:spPr/>
        <p:txBody>
          <a:bodyPr/>
          <a:lstStyle/>
          <a:p>
            <a:pPr marL="12700">
              <a:lnSpc>
                <a:spcPts val="1650"/>
              </a:lnSpc>
            </a:pPr>
            <a:fld id="{81D60167-4931-47E6-BA6A-407CBD079E47}" type="slidenum">
              <a:rPr lang="en-IN" spc="-25" smtClean="0"/>
              <a:t>11</a:t>
            </a:fld>
            <a:endParaRPr lang="en-IN" spc="-25" dirty="0"/>
          </a:p>
        </p:txBody>
      </p:sp>
      <p:sp>
        <p:nvSpPr>
          <p:cNvPr id="5" name="TextBox 4">
            <a:extLst>
              <a:ext uri="{FF2B5EF4-FFF2-40B4-BE49-F238E27FC236}">
                <a16:creationId xmlns:a16="http://schemas.microsoft.com/office/drawing/2014/main" id="{8B3B890A-4B4F-50D0-BB83-AC7E64EED72B}"/>
              </a:ext>
            </a:extLst>
          </p:cNvPr>
          <p:cNvSpPr txBox="1"/>
          <p:nvPr/>
        </p:nvSpPr>
        <p:spPr>
          <a:xfrm>
            <a:off x="388111" y="1108169"/>
            <a:ext cx="11574405" cy="535531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Primary Dataset</a:t>
            </a:r>
          </a:p>
          <a:p>
            <a:r>
              <a:rPr lang="en-IN" dirty="0">
                <a:latin typeface="Times New Roman" panose="02020603050405020304" pitchFamily="18" charset="0"/>
                <a:cs typeface="Times New Roman" panose="02020603050405020304" pitchFamily="18" charset="0"/>
              </a:rPr>
              <a:t>Aalto University Keystroke Dataset (desktop)</a:t>
            </a:r>
          </a:p>
          <a:p>
            <a:r>
              <a:rPr lang="en-IN" dirty="0">
                <a:latin typeface="Times New Roman" panose="02020603050405020304" pitchFamily="18" charset="0"/>
                <a:cs typeface="Times New Roman" panose="02020603050405020304" pitchFamily="18" charset="0"/>
              </a:rPr>
              <a:t>~136 million keystrokes from ~168,000+ users.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Raw Signals Available</a:t>
            </a:r>
          </a:p>
          <a:p>
            <a:r>
              <a:rPr lang="en-IN" dirty="0">
                <a:latin typeface="Times New Roman" panose="02020603050405020304" pitchFamily="18" charset="0"/>
                <a:cs typeface="Times New Roman" panose="02020603050405020304" pitchFamily="18" charset="0"/>
              </a:rPr>
              <a:t>Key press timestamp, key release timestamp, keycode, typed text metadata.</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Preprocessing Pipeline</a:t>
            </a:r>
          </a:p>
          <a:p>
            <a:r>
              <a:rPr lang="en-IN" dirty="0">
                <a:latin typeface="Times New Roman" panose="02020603050405020304" pitchFamily="18" charset="0"/>
                <a:cs typeface="Times New Roman" panose="02020603050405020304" pitchFamily="18" charset="0"/>
              </a:rPr>
              <a:t>Parsed using ingest_aalto.py from Keystrokes.zip.</a:t>
            </a:r>
          </a:p>
          <a:p>
            <a:r>
              <a:rPr lang="en-IN" dirty="0">
                <a:latin typeface="Times New Roman" panose="02020603050405020304" pitchFamily="18" charset="0"/>
                <a:cs typeface="Times New Roman" panose="02020603050405020304" pitchFamily="18" charset="0"/>
              </a:rPr>
              <a:t>Converted into fixed-length sequences (length = 100 keystrokes) with overlap windowing.</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Feature Representation per Keystroke</a:t>
            </a:r>
          </a:p>
          <a:p>
            <a:r>
              <a:rPr lang="en-IN" dirty="0">
                <a:latin typeface="Times New Roman" panose="02020603050405020304" pitchFamily="18" charset="0"/>
                <a:cs typeface="Times New Roman" panose="02020603050405020304" pitchFamily="18" charset="0"/>
              </a:rPr>
              <a:t>[key_norm, HT, FT, sHT, sFT]</a:t>
            </a:r>
          </a:p>
          <a:p>
            <a:r>
              <a:rPr lang="en-IN" dirty="0">
                <a:latin typeface="Times New Roman" panose="02020603050405020304" pitchFamily="18" charset="0"/>
                <a:cs typeface="Times New Roman" panose="02020603050405020304" pitchFamily="18" charset="0"/>
              </a:rPr>
              <a:t>HT = hold time, FT = flight time,</a:t>
            </a:r>
          </a:p>
          <a:p>
            <a:r>
              <a:rPr lang="en-IN" dirty="0">
                <a:latin typeface="Times New Roman" panose="02020603050405020304" pitchFamily="18" charset="0"/>
                <a:cs typeface="Times New Roman" panose="02020603050405020304" pitchFamily="18" charset="0"/>
              </a:rPr>
              <a:t>sHT/sFT = deviation from user/population timing profile.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Threat/Attack Data for Extended Evaluation</a:t>
            </a:r>
          </a:p>
          <a:p>
            <a:r>
              <a:rPr lang="en-IN" dirty="0">
                <a:latin typeface="Times New Roman" panose="02020603050405020304" pitchFamily="18" charset="0"/>
                <a:cs typeface="Times New Roman" panose="02020603050405020304" pitchFamily="18" charset="0"/>
              </a:rPr>
              <a:t>Human impostor samples from other users.</a:t>
            </a:r>
          </a:p>
          <a:p>
            <a:r>
              <a:rPr lang="en-IN" dirty="0">
                <a:latin typeface="Times New Roman" panose="02020603050405020304" pitchFamily="18" charset="0"/>
                <a:cs typeface="Times New Roman" panose="02020603050405020304" pitchFamily="18" charset="0"/>
              </a:rPr>
              <a:t>Synthetic/assisted LLM-like typing pool for LLM/paste detection analysis.</a:t>
            </a:r>
          </a:p>
        </p:txBody>
      </p:sp>
    </p:spTree>
    <p:extLst>
      <p:ext uri="{BB962C8B-B14F-4D97-AF65-F5344CB8AC3E}">
        <p14:creationId xmlns:p14="http://schemas.microsoft.com/office/powerpoint/2010/main" val="3449467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A72AE-1B54-A661-9245-5467CD076D4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7A933EE-E3EF-FA87-64B6-BAA32022D252}"/>
              </a:ext>
            </a:extLst>
          </p:cNvPr>
          <p:cNvSpPr txBox="1">
            <a:spLocks noGrp="1"/>
          </p:cNvSpPr>
          <p:nvPr>
            <p:ph type="title"/>
          </p:nvPr>
        </p:nvSpPr>
        <p:spPr>
          <a:xfrm>
            <a:off x="388111" y="-76200"/>
            <a:ext cx="4221989" cy="1005326"/>
          </a:xfrm>
          <a:prstGeom prst="rect">
            <a:avLst/>
          </a:prstGeom>
        </p:spPr>
        <p:txBody>
          <a:bodyPr vert="horz" wrap="square" lIns="0" tIns="507923" rIns="0" bIns="0" rtlCol="0">
            <a:spAutoFit/>
          </a:bodyPr>
          <a:lstStyle/>
          <a:p>
            <a:pPr marL="121920">
              <a:lnSpc>
                <a:spcPct val="100000"/>
              </a:lnSpc>
              <a:spcBef>
                <a:spcPts val="95"/>
              </a:spcBef>
            </a:pPr>
            <a:r>
              <a:rPr lang="en-IN" sz="3200" spc="254" dirty="0">
                <a:solidFill>
                  <a:schemeClr val="tx1"/>
                </a:solidFill>
                <a:latin typeface="Times New Roman" panose="02020603050405020304" pitchFamily="18" charset="0"/>
                <a:cs typeface="Times New Roman" panose="02020603050405020304" pitchFamily="18" charset="0"/>
              </a:rPr>
              <a:t>Workflow Diagram</a:t>
            </a:r>
            <a:endParaRPr sz="3200" spc="305" dirty="0">
              <a:solidFill>
                <a:schemeClr val="tx1"/>
              </a:solidFill>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5927975E-3BE6-8375-CB34-B99F1FD21311}"/>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3" name="object 13">
            <a:extLst>
              <a:ext uri="{FF2B5EF4-FFF2-40B4-BE49-F238E27FC236}">
                <a16:creationId xmlns:a16="http://schemas.microsoft.com/office/drawing/2014/main" id="{DFA62DA9-501F-D8D7-7129-F3CC853C7DE6}"/>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7B599589-C375-4D16-8B10-FCE3D8227860}" type="datetime1">
              <a:rPr lang="en-US" spc="-50" smtClean="0"/>
              <a:t>4/28/2026</a:t>
            </a:fld>
            <a:endParaRPr spc="-50" dirty="0"/>
          </a:p>
        </p:txBody>
      </p:sp>
      <p:sp>
        <p:nvSpPr>
          <p:cNvPr id="2" name="Slide Number Placeholder 1">
            <a:extLst>
              <a:ext uri="{FF2B5EF4-FFF2-40B4-BE49-F238E27FC236}">
                <a16:creationId xmlns:a16="http://schemas.microsoft.com/office/drawing/2014/main" id="{9F1892A9-1DF4-3481-ACE7-F09FEA914B25}"/>
              </a:ext>
            </a:extLst>
          </p:cNvPr>
          <p:cNvSpPr>
            <a:spLocks noGrp="1"/>
          </p:cNvSpPr>
          <p:nvPr>
            <p:ph type="sldNum" sz="quarter" idx="7"/>
          </p:nvPr>
        </p:nvSpPr>
        <p:spPr/>
        <p:txBody>
          <a:bodyPr/>
          <a:lstStyle/>
          <a:p>
            <a:pPr marL="12700">
              <a:lnSpc>
                <a:spcPts val="1650"/>
              </a:lnSpc>
            </a:pPr>
            <a:fld id="{81D60167-4931-47E6-BA6A-407CBD079E47}" type="slidenum">
              <a:rPr lang="en-IN" spc="-25" smtClean="0"/>
              <a:t>12</a:t>
            </a:fld>
            <a:endParaRPr lang="en-IN" spc="-25" dirty="0"/>
          </a:p>
        </p:txBody>
      </p:sp>
      <p:pic>
        <p:nvPicPr>
          <p:cNvPr id="6" name="Picture 5">
            <a:extLst>
              <a:ext uri="{FF2B5EF4-FFF2-40B4-BE49-F238E27FC236}">
                <a16:creationId xmlns:a16="http://schemas.microsoft.com/office/drawing/2014/main" id="{362FC48B-9859-29F7-8264-23126D1D3237}"/>
              </a:ext>
            </a:extLst>
          </p:cNvPr>
          <p:cNvPicPr>
            <a:picLocks noChangeAspect="1"/>
          </p:cNvPicPr>
          <p:nvPr/>
        </p:nvPicPr>
        <p:blipFill>
          <a:blip r:embed="rId2"/>
          <a:stretch>
            <a:fillRect/>
          </a:stretch>
        </p:blipFill>
        <p:spPr>
          <a:xfrm>
            <a:off x="3352800" y="838200"/>
            <a:ext cx="5614632" cy="5600700"/>
          </a:xfrm>
          <a:prstGeom prst="rect">
            <a:avLst/>
          </a:prstGeom>
        </p:spPr>
      </p:pic>
    </p:spTree>
    <p:extLst>
      <p:ext uri="{BB962C8B-B14F-4D97-AF65-F5344CB8AC3E}">
        <p14:creationId xmlns:p14="http://schemas.microsoft.com/office/powerpoint/2010/main" val="1357812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73811" y="115011"/>
            <a:ext cx="10224897" cy="627736"/>
          </a:xfrm>
          <a:prstGeom prst="rect">
            <a:avLst/>
          </a:prstGeom>
        </p:spPr>
        <p:txBody>
          <a:bodyPr vert="horz" wrap="square" lIns="0" tIns="12065" rIns="0" bIns="0" rtlCol="0">
            <a:spAutoFit/>
          </a:bodyPr>
          <a:lstStyle/>
          <a:p>
            <a:pPr marL="12700">
              <a:lnSpc>
                <a:spcPct val="100000"/>
              </a:lnSpc>
              <a:spcBef>
                <a:spcPts val="95"/>
              </a:spcBef>
            </a:pPr>
            <a:r>
              <a:rPr spc="235" dirty="0">
                <a:solidFill>
                  <a:schemeClr val="tx1"/>
                </a:solidFill>
                <a:latin typeface="Times New Roman" panose="02020603050405020304" pitchFamily="18" charset="0"/>
                <a:cs typeface="Times New Roman" panose="02020603050405020304" pitchFamily="18" charset="0"/>
              </a:rPr>
              <a:t>Proposed</a:t>
            </a:r>
            <a:r>
              <a:rPr spc="275" dirty="0">
                <a:solidFill>
                  <a:schemeClr val="tx1"/>
                </a:solidFill>
                <a:latin typeface="Times New Roman" panose="02020603050405020304" pitchFamily="18" charset="0"/>
                <a:cs typeface="Times New Roman" panose="02020603050405020304" pitchFamily="18" charset="0"/>
              </a:rPr>
              <a:t> </a:t>
            </a:r>
            <a:r>
              <a:rPr spc="265" dirty="0">
                <a:solidFill>
                  <a:schemeClr val="tx1"/>
                </a:solidFill>
                <a:latin typeface="Times New Roman" panose="02020603050405020304" pitchFamily="18" charset="0"/>
                <a:cs typeface="Times New Roman" panose="02020603050405020304" pitchFamily="18" charset="0"/>
              </a:rPr>
              <a:t>Systems</a:t>
            </a:r>
          </a:p>
        </p:txBody>
      </p:sp>
      <p:sp>
        <p:nvSpPr>
          <p:cNvPr id="4" name="object 4"/>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9" name="object 9"/>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35695CFC-CC86-44C8-B508-7B9702A27272}" type="datetime1">
              <a:rPr lang="en-US" spc="-50" smtClean="0"/>
              <a:t>4/28/2026</a:t>
            </a:fld>
            <a:endParaRPr spc="-50" dirty="0"/>
          </a:p>
        </p:txBody>
      </p:sp>
      <p:sp>
        <p:nvSpPr>
          <p:cNvPr id="10" name="TextBox 9">
            <a:extLst>
              <a:ext uri="{FF2B5EF4-FFF2-40B4-BE49-F238E27FC236}">
                <a16:creationId xmlns:a16="http://schemas.microsoft.com/office/drawing/2014/main" id="{C7B341E8-0B78-37A1-6A8F-E85056DC6ABA}"/>
              </a:ext>
            </a:extLst>
          </p:cNvPr>
          <p:cNvSpPr txBox="1"/>
          <p:nvPr/>
        </p:nvSpPr>
        <p:spPr>
          <a:xfrm>
            <a:off x="195071" y="737831"/>
            <a:ext cx="7667209" cy="5078313"/>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Proposed Concept Overview</a:t>
            </a:r>
          </a:p>
          <a:p>
            <a:pPr algn="just"/>
            <a:r>
              <a:rPr lang="en-IN" dirty="0">
                <a:latin typeface="Times New Roman" panose="02020603050405020304" pitchFamily="18" charset="0"/>
                <a:cs typeface="Times New Roman" panose="02020603050405020304" pitchFamily="18" charset="0"/>
              </a:rPr>
              <a:t>This project proposes a unified multi-class behavioural security framework based on keystroke dynamics to enhance insider threat detection. Instead of relying only on binary authentication, the system analyses temporal typing patterns to continuously monitor behavioural deviations and identify multiple behavioural states.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Core Idea</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Use keystroke dynamics as a behavioural biometric signal.</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Extract temporal features such as dwell time, flight time, typing speed, pause distribution, and burst patterns.</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Apply a hybrid behavioral classification approach combining rule-based detection and deep learning-based embeddings.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Output Behavioural Classes</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Normal User Behaviour</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Insider / Impostor Behaviour</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LLM-Assisted Typing Behaviour</a:t>
            </a:r>
          </a:p>
        </p:txBody>
      </p:sp>
      <p:pic>
        <p:nvPicPr>
          <p:cNvPr id="11" name="Picture 10">
            <a:extLst>
              <a:ext uri="{FF2B5EF4-FFF2-40B4-BE49-F238E27FC236}">
                <a16:creationId xmlns:a16="http://schemas.microsoft.com/office/drawing/2014/main" id="{AE787791-BBA5-16D2-5006-F4B8687F8972}"/>
              </a:ext>
            </a:extLst>
          </p:cNvPr>
          <p:cNvPicPr>
            <a:picLocks noChangeAspect="1"/>
          </p:cNvPicPr>
          <p:nvPr/>
        </p:nvPicPr>
        <p:blipFill>
          <a:blip r:embed="rId2"/>
          <a:stretch>
            <a:fillRect/>
          </a:stretch>
        </p:blipFill>
        <p:spPr>
          <a:xfrm>
            <a:off x="8382000" y="1600200"/>
            <a:ext cx="3300083" cy="4114389"/>
          </a:xfrm>
          <a:prstGeom prst="rect">
            <a:avLst/>
          </a:prstGeom>
        </p:spPr>
      </p:pic>
      <p:sp>
        <p:nvSpPr>
          <p:cNvPr id="12" name="TextBox 11">
            <a:extLst>
              <a:ext uri="{FF2B5EF4-FFF2-40B4-BE49-F238E27FC236}">
                <a16:creationId xmlns:a16="http://schemas.microsoft.com/office/drawing/2014/main" id="{7498D963-A8DA-47F5-250A-BD459D966831}"/>
              </a:ext>
            </a:extLst>
          </p:cNvPr>
          <p:cNvSpPr txBox="1"/>
          <p:nvPr/>
        </p:nvSpPr>
        <p:spPr>
          <a:xfrm>
            <a:off x="8458200" y="1143000"/>
            <a:ext cx="3124200"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Workflow</a:t>
            </a:r>
          </a:p>
        </p:txBody>
      </p:sp>
      <p:sp>
        <p:nvSpPr>
          <p:cNvPr id="13" name="Slide Number Placeholder 12">
            <a:extLst>
              <a:ext uri="{FF2B5EF4-FFF2-40B4-BE49-F238E27FC236}">
                <a16:creationId xmlns:a16="http://schemas.microsoft.com/office/drawing/2014/main" id="{2114B33E-7834-9355-CE2A-EA1FE31BA944}"/>
              </a:ext>
            </a:extLst>
          </p:cNvPr>
          <p:cNvSpPr>
            <a:spLocks noGrp="1"/>
          </p:cNvSpPr>
          <p:nvPr>
            <p:ph type="sldNum" sz="quarter" idx="7"/>
          </p:nvPr>
        </p:nvSpPr>
        <p:spPr/>
        <p:txBody>
          <a:bodyPr/>
          <a:lstStyle/>
          <a:p>
            <a:pPr marL="12700">
              <a:lnSpc>
                <a:spcPts val="1650"/>
              </a:lnSpc>
            </a:pPr>
            <a:fld id="{81D60167-4931-47E6-BA6A-407CBD079E47}" type="slidenum">
              <a:rPr lang="en-IN" spc="-25" smtClean="0"/>
              <a:t>13</a:t>
            </a:fld>
            <a:endParaRPr lang="en-IN" spc="-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82781" y="-340970"/>
            <a:ext cx="10224897" cy="1036103"/>
          </a:xfrm>
          <a:prstGeom prst="rect">
            <a:avLst/>
          </a:prstGeom>
        </p:spPr>
        <p:txBody>
          <a:bodyPr vert="horz" wrap="square" lIns="0" tIns="507923" rIns="0" bIns="0" rtlCol="0">
            <a:spAutoFit/>
          </a:bodyPr>
          <a:lstStyle/>
          <a:p>
            <a:pPr marL="121920">
              <a:lnSpc>
                <a:spcPct val="100000"/>
              </a:lnSpc>
              <a:spcBef>
                <a:spcPts val="95"/>
              </a:spcBef>
            </a:pPr>
            <a:r>
              <a:rPr lang="en-IN" sz="3400" dirty="0">
                <a:solidFill>
                  <a:schemeClr val="tx1"/>
                </a:solidFill>
                <a:latin typeface="Times New Roman" panose="02020603050405020304" pitchFamily="18" charset="0"/>
                <a:cs typeface="Times New Roman" panose="02020603050405020304" pitchFamily="18" charset="0"/>
              </a:rPr>
              <a:t>FEASIBILITY &amp; TOOLS</a:t>
            </a:r>
            <a:endParaRPr sz="3400" spc="245" dirty="0">
              <a:solidFill>
                <a:schemeClr val="tx1"/>
              </a:solidFill>
              <a:latin typeface="Times New Roman" panose="02020603050405020304" pitchFamily="18" charset="0"/>
              <a:cs typeface="Times New Roman" panose="02020603050405020304" pitchFamily="18" charset="0"/>
            </a:endParaRPr>
          </a:p>
        </p:txBody>
      </p:sp>
      <p:sp>
        <p:nvSpPr>
          <p:cNvPr id="4" name="object 4"/>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0" name="object 10"/>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42894F5C-8F47-4778-9B21-2236AC2909B2}" type="datetime1">
              <a:rPr lang="en-US" spc="-50" smtClean="0"/>
              <a:t>4/28/2026</a:t>
            </a:fld>
            <a:endParaRPr spc="-50" dirty="0"/>
          </a:p>
        </p:txBody>
      </p:sp>
      <p:sp>
        <p:nvSpPr>
          <p:cNvPr id="11" name="TextBox 10">
            <a:extLst>
              <a:ext uri="{FF2B5EF4-FFF2-40B4-BE49-F238E27FC236}">
                <a16:creationId xmlns:a16="http://schemas.microsoft.com/office/drawing/2014/main" id="{3A161DB5-AF9E-1E22-3F8E-4661CA041BA1}"/>
              </a:ext>
            </a:extLst>
          </p:cNvPr>
          <p:cNvSpPr txBox="1"/>
          <p:nvPr/>
        </p:nvSpPr>
        <p:spPr>
          <a:xfrm>
            <a:off x="388111" y="1274901"/>
            <a:ext cx="11353800" cy="4613058"/>
          </a:xfrm>
          <a:prstGeom prst="rect">
            <a:avLst/>
          </a:prstGeom>
          <a:noFill/>
        </p:spPr>
        <p:txBody>
          <a:bodyPr wrap="square" rtlCol="0">
            <a:spAutoFit/>
          </a:bodyPr>
          <a:lstStyle/>
          <a:p>
            <a:pPr algn="l">
              <a:lnSpc>
                <a:spcPct val="150000"/>
              </a:lnSpc>
            </a:pPr>
            <a:r>
              <a:rPr lang="en-IN" b="1" dirty="0">
                <a:latin typeface="Times New Roman" panose="02020603050405020304" pitchFamily="18" charset="0"/>
                <a:cs typeface="Times New Roman" panose="02020603050405020304" pitchFamily="18" charset="0"/>
              </a:rPr>
              <a:t>Programming Language</a:t>
            </a:r>
          </a:p>
          <a:p>
            <a:pPr marL="285750" indent="-285750" algn="l">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Python</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Dataset Availability</a:t>
            </a:r>
          </a:p>
          <a:p>
            <a:pPr marL="285750" indent="-285750" algn="l">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Aalto University Dataset (</a:t>
            </a:r>
            <a:r>
              <a:rPr lang="en-US" b="1" dirty="0">
                <a:latin typeface="Times New Roman" panose="02020603050405020304" pitchFamily="18" charset="0"/>
                <a:cs typeface="Times New Roman" panose="02020603050405020304" pitchFamily="18" charset="0"/>
              </a:rPr>
              <a:t>136 Million Keystrokes</a:t>
            </a:r>
            <a:r>
              <a:rPr lang="en-US" dirty="0">
                <a:latin typeface="Times New Roman" panose="02020603050405020304" pitchFamily="18" charset="0"/>
                <a:cs typeface="Times New Roman" panose="02020603050405020304" pitchFamily="18" charset="0"/>
              </a:rPr>
              <a:t> from </a:t>
            </a:r>
            <a:r>
              <a:rPr lang="en-US" b="1" dirty="0">
                <a:latin typeface="Times New Roman" panose="02020603050405020304" pitchFamily="18" charset="0"/>
                <a:cs typeface="Times New Roman" panose="02020603050405020304" pitchFamily="18" charset="0"/>
              </a:rPr>
              <a:t>168,000+ Users</a:t>
            </a:r>
            <a:r>
              <a:rPr lang="en-US" dirty="0">
                <a:latin typeface="Times New Roman" panose="02020603050405020304" pitchFamily="18" charset="0"/>
                <a:cs typeface="Times New Roman" panose="02020603050405020304" pitchFamily="18" charset="0"/>
              </a:rPr>
              <a:t>).</a:t>
            </a:r>
          </a:p>
          <a:p>
            <a:pPr marL="285750" indent="-285750" algn="l">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Behavioural simulation used to generate insider and LLM-assisted typing patterns</a:t>
            </a:r>
          </a:p>
          <a:p>
            <a:pPr algn="l">
              <a:lnSpc>
                <a:spcPct val="150000"/>
              </a:lnSpc>
            </a:pPr>
            <a:r>
              <a:rPr lang="en-IN" b="1" dirty="0">
                <a:latin typeface="Times New Roman" panose="02020603050405020304" pitchFamily="18" charset="0"/>
                <a:cs typeface="Times New Roman" panose="02020603050405020304" pitchFamily="18" charset="0"/>
              </a:rPr>
              <a:t>Hardware Resources</a:t>
            </a:r>
          </a:p>
          <a:p>
            <a:pPr marL="285750" indent="-285750" algn="l">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DGX Server (for model training and experimentation)</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Semester Feasibility</a:t>
            </a:r>
          </a:p>
          <a:p>
            <a:pPr marL="285750" indent="-285750" algn="l">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Lightweight machine learning approach reduces computational complexity</a:t>
            </a:r>
          </a:p>
          <a:p>
            <a:pPr marL="285750" indent="-285750" algn="l">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Clear multi-class classification workflow</a:t>
            </a:r>
          </a:p>
          <a:p>
            <a:pPr marL="285750" indent="-285750" algn="l">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Available datasets and computational resources ensure project completion within semester timeline</a:t>
            </a:r>
          </a:p>
        </p:txBody>
      </p:sp>
      <p:sp>
        <p:nvSpPr>
          <p:cNvPr id="2" name="Slide Number Placeholder 1">
            <a:extLst>
              <a:ext uri="{FF2B5EF4-FFF2-40B4-BE49-F238E27FC236}">
                <a16:creationId xmlns:a16="http://schemas.microsoft.com/office/drawing/2014/main" id="{E59B55A3-6C91-A75C-2B6C-0D2F924F8F8F}"/>
              </a:ext>
            </a:extLst>
          </p:cNvPr>
          <p:cNvSpPr>
            <a:spLocks noGrp="1"/>
          </p:cNvSpPr>
          <p:nvPr>
            <p:ph type="sldNum" sz="quarter" idx="7"/>
          </p:nvPr>
        </p:nvSpPr>
        <p:spPr/>
        <p:txBody>
          <a:bodyPr/>
          <a:lstStyle/>
          <a:p>
            <a:pPr marL="12700">
              <a:lnSpc>
                <a:spcPts val="1650"/>
              </a:lnSpc>
            </a:pPr>
            <a:fld id="{81D60167-4931-47E6-BA6A-407CBD079E47}" type="slidenum">
              <a:rPr lang="en-IN" spc="-25" smtClean="0"/>
              <a:t>14</a:t>
            </a:fld>
            <a:endParaRPr lang="en-IN" spc="-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CD357-3C02-9B8D-BA79-FDE72589740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9E039FB-A267-C17E-518C-669E189DF304}"/>
              </a:ext>
            </a:extLst>
          </p:cNvPr>
          <p:cNvSpPr txBox="1">
            <a:spLocks noGrp="1"/>
          </p:cNvSpPr>
          <p:nvPr>
            <p:ph type="title"/>
          </p:nvPr>
        </p:nvSpPr>
        <p:spPr>
          <a:xfrm>
            <a:off x="182781" y="-340970"/>
            <a:ext cx="10224897" cy="1066881"/>
          </a:xfrm>
          <a:prstGeom prst="rect">
            <a:avLst/>
          </a:prstGeom>
        </p:spPr>
        <p:txBody>
          <a:bodyPr vert="horz" wrap="square" lIns="0" tIns="507923" rIns="0" bIns="0" rtlCol="0">
            <a:spAutoFit/>
          </a:bodyPr>
          <a:lstStyle/>
          <a:p>
            <a:r>
              <a:rPr sz="3600" dirty="0">
                <a:solidFill>
                  <a:schemeClr val="tx1"/>
                </a:solidFill>
              </a:rPr>
              <a:t>RESULTS</a:t>
            </a:r>
          </a:p>
        </p:txBody>
      </p:sp>
      <p:sp>
        <p:nvSpPr>
          <p:cNvPr id="4" name="object 4">
            <a:extLst>
              <a:ext uri="{FF2B5EF4-FFF2-40B4-BE49-F238E27FC236}">
                <a16:creationId xmlns:a16="http://schemas.microsoft.com/office/drawing/2014/main" id="{5F97E41D-E9B9-3DE4-CACF-9577FDC26005}"/>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0" name="object 10">
            <a:extLst>
              <a:ext uri="{FF2B5EF4-FFF2-40B4-BE49-F238E27FC236}">
                <a16:creationId xmlns:a16="http://schemas.microsoft.com/office/drawing/2014/main" id="{1873AF5B-CD48-FD04-CC4B-05F79FE5A4C7}"/>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42894F5C-8F47-4778-9B21-2236AC2909B2}" type="datetime1">
              <a:rPr lang="en-US" spc="-50" smtClean="0"/>
              <a:t>4/28/2026</a:t>
            </a:fld>
            <a:endParaRPr spc="-50" dirty="0"/>
          </a:p>
        </p:txBody>
      </p:sp>
      <p:sp>
        <p:nvSpPr>
          <p:cNvPr id="2" name="Slide Number Placeholder 1">
            <a:extLst>
              <a:ext uri="{FF2B5EF4-FFF2-40B4-BE49-F238E27FC236}">
                <a16:creationId xmlns:a16="http://schemas.microsoft.com/office/drawing/2014/main" id="{32D9CE15-9C1C-6CA8-B978-16BCA764B102}"/>
              </a:ext>
            </a:extLst>
          </p:cNvPr>
          <p:cNvSpPr>
            <a:spLocks noGrp="1"/>
          </p:cNvSpPr>
          <p:nvPr>
            <p:ph type="sldNum" sz="quarter" idx="7"/>
          </p:nvPr>
        </p:nvSpPr>
        <p:spPr/>
        <p:txBody>
          <a:bodyPr/>
          <a:lstStyle/>
          <a:p>
            <a:pPr marL="12700">
              <a:lnSpc>
                <a:spcPts val="1650"/>
              </a:lnSpc>
            </a:pPr>
            <a:fld id="{81D60167-4931-47E6-BA6A-407CBD079E47}" type="slidenum">
              <a:rPr lang="en-IN" spc="-25" smtClean="0"/>
              <a:t>15</a:t>
            </a:fld>
            <a:endParaRPr lang="en-IN" spc="-25" dirty="0"/>
          </a:p>
        </p:txBody>
      </p:sp>
      <p:pic>
        <p:nvPicPr>
          <p:cNvPr id="6" name="Picture 5">
            <a:extLst>
              <a:ext uri="{FF2B5EF4-FFF2-40B4-BE49-F238E27FC236}">
                <a16:creationId xmlns:a16="http://schemas.microsoft.com/office/drawing/2014/main" id="{860E7183-4AE2-FD0B-68F4-26CA21F671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48619" y="3654291"/>
            <a:ext cx="5559386" cy="2779693"/>
          </a:xfrm>
          <a:prstGeom prst="rect">
            <a:avLst/>
          </a:prstGeom>
        </p:spPr>
      </p:pic>
      <p:pic>
        <p:nvPicPr>
          <p:cNvPr id="11" name="Picture 10">
            <a:extLst>
              <a:ext uri="{FF2B5EF4-FFF2-40B4-BE49-F238E27FC236}">
                <a16:creationId xmlns:a16="http://schemas.microsoft.com/office/drawing/2014/main" id="{AD64E685-BF84-72CA-22E5-16ABC91453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08912" y="834891"/>
            <a:ext cx="5638800" cy="2819400"/>
          </a:xfrm>
          <a:prstGeom prst="rect">
            <a:avLst/>
          </a:prstGeom>
        </p:spPr>
      </p:pic>
      <p:pic>
        <p:nvPicPr>
          <p:cNvPr id="13" name="Picture 12">
            <a:extLst>
              <a:ext uri="{FF2B5EF4-FFF2-40B4-BE49-F238E27FC236}">
                <a16:creationId xmlns:a16="http://schemas.microsoft.com/office/drawing/2014/main" id="{6B27EDB3-3B6B-3A80-BE44-B92EC06CBA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5946" y="1395277"/>
            <a:ext cx="5423259" cy="4067445"/>
          </a:xfrm>
          <a:prstGeom prst="rect">
            <a:avLst/>
          </a:prstGeom>
        </p:spPr>
      </p:pic>
    </p:spTree>
    <p:extLst>
      <p:ext uri="{BB962C8B-B14F-4D97-AF65-F5344CB8AC3E}">
        <p14:creationId xmlns:p14="http://schemas.microsoft.com/office/powerpoint/2010/main" val="269776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32BDF-E3D6-5720-7451-44F19CD0093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31CCC5D-F009-38A3-D35F-40CD1BDF943C}"/>
              </a:ext>
            </a:extLst>
          </p:cNvPr>
          <p:cNvSpPr txBox="1">
            <a:spLocks noGrp="1"/>
          </p:cNvSpPr>
          <p:nvPr>
            <p:ph type="title"/>
          </p:nvPr>
        </p:nvSpPr>
        <p:spPr>
          <a:xfrm>
            <a:off x="182781" y="-340970"/>
            <a:ext cx="10224897" cy="1066881"/>
          </a:xfrm>
          <a:prstGeom prst="rect">
            <a:avLst/>
          </a:prstGeom>
        </p:spPr>
        <p:txBody>
          <a:bodyPr vert="horz" wrap="square" lIns="0" tIns="507923" rIns="0" bIns="0" rtlCol="0">
            <a:spAutoFit/>
          </a:bodyPr>
          <a:lstStyle/>
          <a:p>
            <a:r>
              <a:rPr sz="3600" dirty="0">
                <a:solidFill>
                  <a:schemeClr val="tx1"/>
                </a:solidFill>
              </a:rPr>
              <a:t>RESULTS</a:t>
            </a:r>
          </a:p>
        </p:txBody>
      </p:sp>
      <p:sp>
        <p:nvSpPr>
          <p:cNvPr id="4" name="object 4">
            <a:extLst>
              <a:ext uri="{FF2B5EF4-FFF2-40B4-BE49-F238E27FC236}">
                <a16:creationId xmlns:a16="http://schemas.microsoft.com/office/drawing/2014/main" id="{A25B5CD8-CBB2-FB05-F38C-7AAE6ED065B3}"/>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0" name="object 10">
            <a:extLst>
              <a:ext uri="{FF2B5EF4-FFF2-40B4-BE49-F238E27FC236}">
                <a16:creationId xmlns:a16="http://schemas.microsoft.com/office/drawing/2014/main" id="{C3E00851-990F-9A84-B3CB-637DB10CEB00}"/>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42894F5C-8F47-4778-9B21-2236AC2909B2}" type="datetime1">
              <a:rPr lang="en-US" spc="-50" smtClean="0"/>
              <a:t>4/28/2026</a:t>
            </a:fld>
            <a:endParaRPr spc="-50" dirty="0"/>
          </a:p>
        </p:txBody>
      </p:sp>
      <p:sp>
        <p:nvSpPr>
          <p:cNvPr id="2" name="Slide Number Placeholder 1">
            <a:extLst>
              <a:ext uri="{FF2B5EF4-FFF2-40B4-BE49-F238E27FC236}">
                <a16:creationId xmlns:a16="http://schemas.microsoft.com/office/drawing/2014/main" id="{DE7F12F4-DA83-F865-FD66-ECC353C3C180}"/>
              </a:ext>
            </a:extLst>
          </p:cNvPr>
          <p:cNvSpPr>
            <a:spLocks noGrp="1"/>
          </p:cNvSpPr>
          <p:nvPr>
            <p:ph type="sldNum" sz="quarter" idx="7"/>
          </p:nvPr>
        </p:nvSpPr>
        <p:spPr/>
        <p:txBody>
          <a:bodyPr/>
          <a:lstStyle/>
          <a:p>
            <a:pPr marL="12700">
              <a:lnSpc>
                <a:spcPts val="1650"/>
              </a:lnSpc>
            </a:pPr>
            <a:fld id="{81D60167-4931-47E6-BA6A-407CBD079E47}" type="slidenum">
              <a:rPr lang="en-IN" spc="-25" smtClean="0"/>
              <a:t>16</a:t>
            </a:fld>
            <a:endParaRPr lang="en-IN" spc="-25" dirty="0"/>
          </a:p>
        </p:txBody>
      </p:sp>
      <p:pic>
        <p:nvPicPr>
          <p:cNvPr id="7" name="Picture 6">
            <a:extLst>
              <a:ext uri="{FF2B5EF4-FFF2-40B4-BE49-F238E27FC236}">
                <a16:creationId xmlns:a16="http://schemas.microsoft.com/office/drawing/2014/main" id="{41E433A1-6884-2224-8038-5D479E3751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9400" y="797670"/>
            <a:ext cx="4172065" cy="3207144"/>
          </a:xfrm>
          <a:prstGeom prst="rect">
            <a:avLst/>
          </a:prstGeom>
        </p:spPr>
      </p:pic>
      <p:pic>
        <p:nvPicPr>
          <p:cNvPr id="8" name="Picture 7">
            <a:extLst>
              <a:ext uri="{FF2B5EF4-FFF2-40B4-BE49-F238E27FC236}">
                <a16:creationId xmlns:a16="http://schemas.microsoft.com/office/drawing/2014/main" id="{0424EEA1-215C-B2D9-9AAB-8ACF0B7F91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800" y="656720"/>
            <a:ext cx="4107689" cy="3459337"/>
          </a:xfrm>
          <a:prstGeom prst="rect">
            <a:avLst/>
          </a:prstGeom>
        </p:spPr>
      </p:pic>
      <p:pic>
        <p:nvPicPr>
          <p:cNvPr id="6" name="Picture 5">
            <a:extLst>
              <a:ext uri="{FF2B5EF4-FFF2-40B4-BE49-F238E27FC236}">
                <a16:creationId xmlns:a16="http://schemas.microsoft.com/office/drawing/2014/main" id="{C87B0F83-CC93-504A-BB92-352D340E903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72380" y="4133263"/>
            <a:ext cx="5257800" cy="2628900"/>
          </a:xfrm>
          <a:prstGeom prst="rect">
            <a:avLst/>
          </a:prstGeom>
        </p:spPr>
      </p:pic>
    </p:spTree>
    <p:extLst>
      <p:ext uri="{BB962C8B-B14F-4D97-AF65-F5344CB8AC3E}">
        <p14:creationId xmlns:p14="http://schemas.microsoft.com/office/powerpoint/2010/main" val="1665677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AB9A1-CDCD-D9B7-E6BA-10837DD976D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7E7B9C0-9A47-F630-BC32-6BD4D40686B6}"/>
              </a:ext>
            </a:extLst>
          </p:cNvPr>
          <p:cNvSpPr txBox="1">
            <a:spLocks noGrp="1"/>
          </p:cNvSpPr>
          <p:nvPr>
            <p:ph type="title"/>
          </p:nvPr>
        </p:nvSpPr>
        <p:spPr>
          <a:xfrm>
            <a:off x="182781" y="-340970"/>
            <a:ext cx="10224897" cy="1066881"/>
          </a:xfrm>
          <a:prstGeom prst="rect">
            <a:avLst/>
          </a:prstGeom>
        </p:spPr>
        <p:txBody>
          <a:bodyPr vert="horz" wrap="square" lIns="0" tIns="507923" rIns="0" bIns="0" rtlCol="0">
            <a:spAutoFit/>
          </a:bodyPr>
          <a:lstStyle/>
          <a:p>
            <a:r>
              <a:rPr sz="3600" dirty="0">
                <a:solidFill>
                  <a:schemeClr val="tx1"/>
                </a:solidFill>
                <a:latin typeface="Times New Roman" panose="02020603050405020304" pitchFamily="18" charset="0"/>
                <a:cs typeface="Times New Roman" panose="02020603050405020304" pitchFamily="18" charset="0"/>
              </a:rPr>
              <a:t>RESULTS: CONTINUOUS EVALUATION</a:t>
            </a:r>
          </a:p>
        </p:txBody>
      </p:sp>
      <p:sp>
        <p:nvSpPr>
          <p:cNvPr id="4" name="object 4">
            <a:extLst>
              <a:ext uri="{FF2B5EF4-FFF2-40B4-BE49-F238E27FC236}">
                <a16:creationId xmlns:a16="http://schemas.microsoft.com/office/drawing/2014/main" id="{7C93E242-2447-CB86-4581-D684BB2B9692}"/>
              </a:ext>
            </a:extLst>
          </p:cNvPr>
          <p:cNvSpPr/>
          <p:nvPr/>
        </p:nvSpPr>
        <p:spPr>
          <a:xfrm>
            <a:off x="195071" y="6215328"/>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pPr>
              <a:defRPr sz="2000" b="1"/>
            </a:pPr>
            <a:endParaRPr dirty="0"/>
          </a:p>
        </p:txBody>
      </p:sp>
      <p:sp>
        <p:nvSpPr>
          <p:cNvPr id="10" name="object 10">
            <a:extLst>
              <a:ext uri="{FF2B5EF4-FFF2-40B4-BE49-F238E27FC236}">
                <a16:creationId xmlns:a16="http://schemas.microsoft.com/office/drawing/2014/main" id="{F742C1E7-1FBB-4780-F40B-612C2C70018F}"/>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42894F5C-8F47-4778-9B21-2236AC2909B2}" type="datetime1">
              <a:rPr lang="en-US" spc="-50" smtClean="0"/>
              <a:t>4/28/2026</a:t>
            </a:fld>
            <a:endParaRPr spc="-50" dirty="0"/>
          </a:p>
        </p:txBody>
      </p:sp>
      <p:sp>
        <p:nvSpPr>
          <p:cNvPr id="2" name="Slide Number Placeholder 1">
            <a:extLst>
              <a:ext uri="{FF2B5EF4-FFF2-40B4-BE49-F238E27FC236}">
                <a16:creationId xmlns:a16="http://schemas.microsoft.com/office/drawing/2014/main" id="{FE9EC0AE-AD43-773C-63AD-DE1523DCAAA2}"/>
              </a:ext>
            </a:extLst>
          </p:cNvPr>
          <p:cNvSpPr>
            <a:spLocks noGrp="1"/>
          </p:cNvSpPr>
          <p:nvPr>
            <p:ph type="sldNum" sz="quarter" idx="7"/>
          </p:nvPr>
        </p:nvSpPr>
        <p:spPr/>
        <p:txBody>
          <a:bodyPr/>
          <a:lstStyle/>
          <a:p>
            <a:pPr marL="12700">
              <a:lnSpc>
                <a:spcPts val="1650"/>
              </a:lnSpc>
            </a:pPr>
            <a:fld id="{81D60167-4931-47E6-BA6A-407CBD079E47}" type="slidenum">
              <a:rPr lang="en-IN" spc="-25" smtClean="0"/>
              <a:t>17</a:t>
            </a:fld>
            <a:endParaRPr lang="en-IN" spc="-25" dirty="0"/>
          </a:p>
        </p:txBody>
      </p:sp>
      <p:pic>
        <p:nvPicPr>
          <p:cNvPr id="7" name="Picture 6">
            <a:extLst>
              <a:ext uri="{FF2B5EF4-FFF2-40B4-BE49-F238E27FC236}">
                <a16:creationId xmlns:a16="http://schemas.microsoft.com/office/drawing/2014/main" id="{3150DA7A-4552-83ED-491D-2D725D7B9A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5071" y="1404331"/>
            <a:ext cx="5215129" cy="3634787"/>
          </a:xfrm>
          <a:prstGeom prst="rect">
            <a:avLst/>
          </a:prstGeom>
        </p:spPr>
      </p:pic>
      <p:pic>
        <p:nvPicPr>
          <p:cNvPr id="14" name="Picture 13">
            <a:extLst>
              <a:ext uri="{FF2B5EF4-FFF2-40B4-BE49-F238E27FC236}">
                <a16:creationId xmlns:a16="http://schemas.microsoft.com/office/drawing/2014/main" id="{0BA354C9-B20A-7AEB-E264-B4A484044B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19928" y="1583424"/>
            <a:ext cx="6477001" cy="3276600"/>
          </a:xfrm>
          <a:prstGeom prst="rect">
            <a:avLst/>
          </a:prstGeom>
        </p:spPr>
      </p:pic>
    </p:spTree>
    <p:extLst>
      <p:ext uri="{BB962C8B-B14F-4D97-AF65-F5344CB8AC3E}">
        <p14:creationId xmlns:p14="http://schemas.microsoft.com/office/powerpoint/2010/main" val="1095901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E7FB2-B40D-376D-0624-2DBC1B01244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546465A-3F34-9751-B6BE-BE9B1D7ABC09}"/>
              </a:ext>
            </a:extLst>
          </p:cNvPr>
          <p:cNvSpPr txBox="1">
            <a:spLocks noGrp="1"/>
          </p:cNvSpPr>
          <p:nvPr>
            <p:ph type="title"/>
          </p:nvPr>
        </p:nvSpPr>
        <p:spPr>
          <a:xfrm>
            <a:off x="182781" y="-340970"/>
            <a:ext cx="10224897" cy="1244302"/>
          </a:xfrm>
          <a:prstGeom prst="rect">
            <a:avLst/>
          </a:prstGeom>
        </p:spPr>
        <p:txBody>
          <a:bodyPr vert="horz" wrap="square" lIns="0" tIns="507923" rIns="0" bIns="0" rtlCol="0">
            <a:spAutoFit/>
          </a:bodyPr>
          <a:lstStyle/>
          <a:p>
            <a:pPr algn="l">
              <a:lnSpc>
                <a:spcPct val="150000"/>
              </a:lnSpc>
            </a:pPr>
            <a:r>
              <a:rPr lang="en-US" sz="3600" dirty="0">
                <a:solidFill>
                  <a:schemeClr val="tx1"/>
                </a:solidFill>
                <a:latin typeface="Times New Roman" panose="02020603050405020304" pitchFamily="18" charset="0"/>
                <a:cs typeface="Times New Roman" panose="02020603050405020304" pitchFamily="18" charset="0"/>
              </a:rPr>
              <a:t>LIMITATIONS</a:t>
            </a:r>
          </a:p>
        </p:txBody>
      </p:sp>
      <p:sp>
        <p:nvSpPr>
          <p:cNvPr id="4" name="object 4">
            <a:extLst>
              <a:ext uri="{FF2B5EF4-FFF2-40B4-BE49-F238E27FC236}">
                <a16:creationId xmlns:a16="http://schemas.microsoft.com/office/drawing/2014/main" id="{B822A01C-22DF-5A5F-4C3B-E33001972FB6}"/>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0" name="object 10">
            <a:extLst>
              <a:ext uri="{FF2B5EF4-FFF2-40B4-BE49-F238E27FC236}">
                <a16:creationId xmlns:a16="http://schemas.microsoft.com/office/drawing/2014/main" id="{8938D821-2627-40CF-9CC9-45F491F79E55}"/>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42894F5C-8F47-4778-9B21-2236AC2909B2}" type="datetime1">
              <a:rPr lang="en-US" spc="-50" smtClean="0"/>
              <a:t>4/28/2026</a:t>
            </a:fld>
            <a:endParaRPr spc="-50" dirty="0"/>
          </a:p>
        </p:txBody>
      </p:sp>
      <p:sp>
        <p:nvSpPr>
          <p:cNvPr id="11" name="TextBox 10">
            <a:extLst>
              <a:ext uri="{FF2B5EF4-FFF2-40B4-BE49-F238E27FC236}">
                <a16:creationId xmlns:a16="http://schemas.microsoft.com/office/drawing/2014/main" id="{0CCD10AA-1AFC-F8E1-0741-B3904DF8C0E4}"/>
              </a:ext>
            </a:extLst>
          </p:cNvPr>
          <p:cNvSpPr txBox="1"/>
          <p:nvPr/>
        </p:nvSpPr>
        <p:spPr>
          <a:xfrm>
            <a:off x="388111" y="1274901"/>
            <a:ext cx="11353800" cy="3782061"/>
          </a:xfrm>
          <a:prstGeom prst="rect">
            <a:avLst/>
          </a:prstGeom>
          <a:noFill/>
        </p:spPr>
        <p:txBody>
          <a:bodyPr wrap="square" rtlCol="0">
            <a:spAutoFit/>
          </a:bodyPr>
          <a:lstStyle/>
          <a:p>
            <a:pPr algn="l">
              <a:lnSpc>
                <a:spcPct val="150000"/>
              </a:lnSpc>
            </a:pP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Sequence Warm-up Delay: The system requires a minimum buffer of 100 keystrokes before the first biometric verification can occur.</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Hardware Dependency: Drastic changes in hardware (e.g., switching from a mechanical keyboard to a touchscreen) alter the temporal signature significantly.</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Physical Fatigue/Injury: Biological factors like hand strain or injuries can temporarily increase the False Rejection Rate (FRR).</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Enrollment Time: A stable user profile requires at least 3-5 distinct typing sessions to capture natural rhythmic variance.</a:t>
            </a:r>
            <a:endParaRPr lang="en-IN"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5DCB202-CEC1-384E-BA12-5E527F495E1D}"/>
              </a:ext>
            </a:extLst>
          </p:cNvPr>
          <p:cNvSpPr>
            <a:spLocks noGrp="1"/>
          </p:cNvSpPr>
          <p:nvPr>
            <p:ph type="sldNum" sz="quarter" idx="7"/>
          </p:nvPr>
        </p:nvSpPr>
        <p:spPr/>
        <p:txBody>
          <a:bodyPr/>
          <a:lstStyle/>
          <a:p>
            <a:pPr marL="12700">
              <a:lnSpc>
                <a:spcPts val="1650"/>
              </a:lnSpc>
            </a:pPr>
            <a:fld id="{81D60167-4931-47E6-BA6A-407CBD079E47}" type="slidenum">
              <a:rPr lang="en-IN" spc="-25" smtClean="0"/>
              <a:t>18</a:t>
            </a:fld>
            <a:endParaRPr lang="en-IN" spc="-25" dirty="0"/>
          </a:p>
        </p:txBody>
      </p:sp>
    </p:spTree>
    <p:extLst>
      <p:ext uri="{BB962C8B-B14F-4D97-AF65-F5344CB8AC3E}">
        <p14:creationId xmlns:p14="http://schemas.microsoft.com/office/powerpoint/2010/main" val="3621086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AB22A-1EE7-95F1-0C39-133CBF2297A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678B992-9A61-A678-1A3E-C6D7A12FB1A0}"/>
              </a:ext>
            </a:extLst>
          </p:cNvPr>
          <p:cNvSpPr txBox="1">
            <a:spLocks noGrp="1"/>
          </p:cNvSpPr>
          <p:nvPr>
            <p:ph type="title"/>
          </p:nvPr>
        </p:nvSpPr>
        <p:spPr>
          <a:xfrm>
            <a:off x="182781" y="-340970"/>
            <a:ext cx="10224897" cy="1036103"/>
          </a:xfrm>
          <a:prstGeom prst="rect">
            <a:avLst/>
          </a:prstGeom>
        </p:spPr>
        <p:txBody>
          <a:bodyPr vert="horz" wrap="square" lIns="0" tIns="507923" rIns="0" bIns="0" rtlCol="0">
            <a:spAutoFit/>
          </a:bodyPr>
          <a:lstStyle/>
          <a:p>
            <a:pPr marL="121920">
              <a:lnSpc>
                <a:spcPct val="100000"/>
              </a:lnSpc>
              <a:spcBef>
                <a:spcPts val="95"/>
              </a:spcBef>
            </a:pPr>
            <a:r>
              <a:rPr lang="en-IN" sz="3400" spc="245" dirty="0">
                <a:solidFill>
                  <a:schemeClr val="tx1"/>
                </a:solidFill>
                <a:latin typeface="Times New Roman" panose="02020603050405020304" pitchFamily="18" charset="0"/>
                <a:cs typeface="Times New Roman" panose="02020603050405020304" pitchFamily="18" charset="0"/>
              </a:rPr>
              <a:t>FUTURE WORK</a:t>
            </a:r>
            <a:endParaRPr sz="3400" spc="245" dirty="0">
              <a:solidFill>
                <a:schemeClr val="tx1"/>
              </a:solidFill>
              <a:latin typeface="Times New Roman" panose="02020603050405020304" pitchFamily="18" charset="0"/>
              <a:cs typeface="Times New Roman" panose="02020603050405020304" pitchFamily="18" charset="0"/>
            </a:endParaRPr>
          </a:p>
        </p:txBody>
      </p:sp>
      <p:sp>
        <p:nvSpPr>
          <p:cNvPr id="4" name="object 4">
            <a:extLst>
              <a:ext uri="{FF2B5EF4-FFF2-40B4-BE49-F238E27FC236}">
                <a16:creationId xmlns:a16="http://schemas.microsoft.com/office/drawing/2014/main" id="{454CD5F5-C688-B24B-4DDD-DE2E5F639F35}"/>
              </a:ext>
            </a:extLst>
          </p:cNvPr>
          <p:cNvSpPr/>
          <p:nvPr/>
        </p:nvSpPr>
        <p:spPr>
          <a:xfrm>
            <a:off x="195071"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FF6600"/>
          </a:solidFill>
        </p:spPr>
        <p:txBody>
          <a:bodyPr wrap="square" lIns="0" tIns="0" rIns="0" bIns="0" rtlCol="0"/>
          <a:lstStyle/>
          <a:p>
            <a:endParaRPr/>
          </a:p>
        </p:txBody>
      </p:sp>
      <p:sp>
        <p:nvSpPr>
          <p:cNvPr id="10" name="object 10">
            <a:extLst>
              <a:ext uri="{FF2B5EF4-FFF2-40B4-BE49-F238E27FC236}">
                <a16:creationId xmlns:a16="http://schemas.microsoft.com/office/drawing/2014/main" id="{8F792D68-2F6A-AF20-9B20-39EEC83B0FD5}"/>
              </a:ext>
            </a:extLst>
          </p:cNvPr>
          <p:cNvSpPr txBox="1">
            <a:spLocks noGrp="1"/>
          </p:cNvSpPr>
          <p:nvPr>
            <p:ph type="dt" sz="half" idx="6"/>
          </p:nvPr>
        </p:nvSpPr>
        <p:spPr>
          <a:prstGeom prst="rect">
            <a:avLst/>
          </a:prstGeom>
        </p:spPr>
        <p:txBody>
          <a:bodyPr vert="horz" wrap="square" lIns="0" tIns="0" rIns="0" bIns="0" rtlCol="0">
            <a:spAutoFit/>
          </a:bodyPr>
          <a:lstStyle/>
          <a:p>
            <a:pPr marL="12700">
              <a:lnSpc>
                <a:spcPts val="1839"/>
              </a:lnSpc>
            </a:pPr>
            <a:fld id="{42894F5C-8F47-4778-9B21-2236AC2909B2}" type="datetime1">
              <a:rPr lang="en-US" spc="-50" smtClean="0"/>
              <a:t>4/28/2026</a:t>
            </a:fld>
            <a:endParaRPr spc="-50" dirty="0"/>
          </a:p>
        </p:txBody>
      </p:sp>
      <p:sp>
        <p:nvSpPr>
          <p:cNvPr id="11" name="TextBox 10">
            <a:extLst>
              <a:ext uri="{FF2B5EF4-FFF2-40B4-BE49-F238E27FC236}">
                <a16:creationId xmlns:a16="http://schemas.microsoft.com/office/drawing/2014/main" id="{0774D726-FD21-A05F-6DBA-38DD73BDE542}"/>
              </a:ext>
            </a:extLst>
          </p:cNvPr>
          <p:cNvSpPr txBox="1"/>
          <p:nvPr/>
        </p:nvSpPr>
        <p:spPr>
          <a:xfrm>
            <a:off x="383195" y="1212933"/>
            <a:ext cx="11353800" cy="419755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Multi-Modal Fusion: Integrating keystroke dynamics with mouse movement patterns and touch pressure for a "Continuous Behavioral Profile."</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Adversarial Training: Implementing GANS (Generative Adversarial Networks) to specifically train the model against "Sophisticated Impersonation" attacks.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Adaptive Thresholding: Developing a dynamic threshold that adjusts based on the user's current environment or typing context.</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Cross-Device Transfer Learning: Researching ways to map a user's desktop typing rhythm to their mobile/tablet typing signature automatically.</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Privacy-Preserving Embeddings: Using Federated Learning to train models without ever transmitting raw keystroke data to a central server.</a:t>
            </a:r>
          </a:p>
        </p:txBody>
      </p:sp>
      <p:sp>
        <p:nvSpPr>
          <p:cNvPr id="2" name="Slide Number Placeholder 1">
            <a:extLst>
              <a:ext uri="{FF2B5EF4-FFF2-40B4-BE49-F238E27FC236}">
                <a16:creationId xmlns:a16="http://schemas.microsoft.com/office/drawing/2014/main" id="{E09BAC9B-5A07-8864-17BC-E81BC85D0EF7}"/>
              </a:ext>
            </a:extLst>
          </p:cNvPr>
          <p:cNvSpPr>
            <a:spLocks noGrp="1"/>
          </p:cNvSpPr>
          <p:nvPr>
            <p:ph type="sldNum" sz="quarter" idx="7"/>
          </p:nvPr>
        </p:nvSpPr>
        <p:spPr/>
        <p:txBody>
          <a:bodyPr/>
          <a:lstStyle/>
          <a:p>
            <a:pPr marL="12700">
              <a:lnSpc>
                <a:spcPts val="1650"/>
              </a:lnSpc>
            </a:pPr>
            <a:fld id="{81D60167-4931-47E6-BA6A-407CBD079E47}" type="slidenum">
              <a:rPr lang="en-IN" spc="-25" smtClean="0"/>
              <a:t>19</a:t>
            </a:fld>
            <a:endParaRPr lang="en-IN" spc="-25" dirty="0"/>
          </a:p>
        </p:txBody>
      </p:sp>
    </p:spTree>
    <p:extLst>
      <p:ext uri="{BB962C8B-B14F-4D97-AF65-F5344CB8AC3E}">
        <p14:creationId xmlns:p14="http://schemas.microsoft.com/office/powerpoint/2010/main" val="546472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3273</TotalTime>
  <Words>1733</Words>
  <Application>Microsoft Office PowerPoint</Application>
  <PresentationFormat>Widescreen</PresentationFormat>
  <Paragraphs>220</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Aptos</vt:lpstr>
      <vt:lpstr>Arial</vt:lpstr>
      <vt:lpstr>Arial MT</vt:lpstr>
      <vt:lpstr>Calibri</vt:lpstr>
      <vt:lpstr>Cambria</vt:lpstr>
      <vt:lpstr>Palatino Linotype</vt:lpstr>
      <vt:lpstr>Times New Roman</vt:lpstr>
      <vt:lpstr>Wingdings</vt:lpstr>
      <vt:lpstr>Office Theme</vt:lpstr>
      <vt:lpstr>A MULTI-CLASS BEHAVIORAL SECURITY FRAMEWORK FOR INSIDER THREAT AND LLM-ASSISTED MISUSE DETECTION USING KEYSTROKE DYNAMICS  </vt:lpstr>
      <vt:lpstr>Contents</vt:lpstr>
      <vt:lpstr>Base Paper Details</vt:lpstr>
      <vt:lpstr>Objectives</vt:lpstr>
      <vt:lpstr>Problem Context &amp; Background</vt:lpstr>
      <vt:lpstr>Literature Survey</vt:lpstr>
      <vt:lpstr>Methodology</vt:lpstr>
      <vt:lpstr>Methodology</vt:lpstr>
      <vt:lpstr>Modules</vt:lpstr>
      <vt:lpstr>Modules</vt:lpstr>
      <vt:lpstr>Dataset</vt:lpstr>
      <vt:lpstr>Workflow Diagram</vt:lpstr>
      <vt:lpstr>Proposed Systems</vt:lpstr>
      <vt:lpstr>FEASIBILITY &amp; TOOLS</vt:lpstr>
      <vt:lpstr>RESULTS</vt:lpstr>
      <vt:lpstr>RESULTS</vt:lpstr>
      <vt:lpstr>RESULTS: CONTINUOUS EVALUATION</vt:lpstr>
      <vt:lpstr>LIMITATIONS</vt:lpstr>
      <vt:lpstr>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 ADT</dc:title>
  <dc:creator>Admin</dc:creator>
  <cp:lastModifiedBy>Raja Rajeswaran</cp:lastModifiedBy>
  <cp:revision>25</cp:revision>
  <dcterms:created xsi:type="dcterms:W3CDTF">2026-02-16T15:24:22Z</dcterms:created>
  <dcterms:modified xsi:type="dcterms:W3CDTF">2026-04-28T09:42:57Z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2024-02-20T00:00:00Z</vt:filetime>
  </property>
  <property fmtid="{D5CDD505-2E9C-101B-9397-08002B2CF9AE}" pid="3" name="Creator">
    <vt:lpwstr>Microsoft® PowerPoint® 2019</vt:lpwstr>
  </property>
  <property fmtid="{D5CDD505-2E9C-101B-9397-08002B2CF9AE}" pid="4" name="LastSaved">
    <vt:filetime>2026-02-16T00:00:00Z</vt:filetime>
  </property>
  <property fmtid="{D5CDD505-2E9C-101B-9397-08002B2CF9AE}" pid="5" name="Producer">
    <vt:lpwstr>iLovePDF</vt:lpwstr>
  </property>
</Properties>
</file>